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2377440" cy="2377440"/>
          </a:xfrm>
          <a:prstGeom prst="ellipse">
            <a:avLst/>
          </a:prstGeom>
          <a:solidFill>
            <a:srgbClr val="0A246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914400"/>
            <a:ext cx="2194560" cy="2194560"/>
          </a:xfrm>
          <a:prstGeom prst="ellipse">
            <a:avLst/>
          </a:prstGeom>
          <a:solidFill>
            <a:srgbClr val="EA901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EA9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PRE-POC · PLANNING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built, and in what order — an autonomous system performing every function of a human mortgage advisor.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SCOPE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written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27,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design principles decide the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91841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64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Text-first, voice on escalation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1460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channel for borrower and lender interaction is text. Voice exists because a banker will sometimes insist on a call — it is the last line of defense, not the primary interface. The escalation boundary is designed in from week one; voice itself lands in weeks 9–12.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6479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1" name="Image 1" descr="/home/claude/deck2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191841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764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does not do arithmetic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51460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that reaches a client or lender comes from a deterministic, tested financial engine. The LLM handles language, documents, judgment, and negotiation. It never computes a payment, never evaluates a regulatory cap, and never decides if a structure is legal.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SCOPE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file, carried autonomously from Hebrew conversational intake through document parsing, profiling, affordability, compliant mix optimization, a 5-lender simulated tender with multi-round negotiation, and a client-facing recommendation report — on test data, with a complete audit trail, in 8 weeks.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INVENTORY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advisor’s job, split into six capability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768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24912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capabilities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677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Assessment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432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document parsing, affordability, credit profile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645920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2" name="Image 1" descr="/home/claude/deck2/icons/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43" y="176881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73952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capabilities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2677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Construction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498848" y="27432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Amortization, track model, compliance engine, optimizer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46720" y="1463040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1645920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8" name="Image 2" descr="/home/claude/deck2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783" y="1768815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22992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capabilities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247888" y="22677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Bureaucracy &amp; Pre-Approval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27432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chasing, file packaging, lender submission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48640" y="3785616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3968496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4" name="Image 3" descr="/home/claude/deck2/icons/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4091391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724912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capabilities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459028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Tenders &amp; Negotiation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49808" y="5065776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Multi-lender tender, offer parsing, counterparty memory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297680" y="3785616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98848" y="3968496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0" name="Image 4" descr="/home/claude/deck2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743" y="4091391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473952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capabilities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4498848" y="459028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Signing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498848" y="5065776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verification, discrepancy escalation, coordination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046720" y="3785616"/>
            <a:ext cx="3593592" cy="2176272"/>
          </a:xfrm>
          <a:prstGeom prst="roundRect">
            <a:avLst>
              <a:gd name="adj" fmla="val 420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47888" y="3968496"/>
            <a:ext cx="512064" cy="512064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6" name="Image 5" descr="/home/claude/deck2/icons/repe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783" y="4091391"/>
            <a:ext cx="266273" cy="26627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222992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capabilities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8247888" y="459028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Post-Disbursement</a:t>
            </a:r>
            <a:endParaRPr lang="en-US" sz="1450" dirty="0"/>
          </a:p>
        </p:txBody>
      </p:sp>
      <p:sp>
        <p:nvSpPr>
          <p:cNvPr id="39" name="Text 31"/>
          <p:cNvSpPr txBox="1"/>
          <p:nvPr/>
        </p:nvSpPr>
        <p:spPr>
          <a:xfrm>
            <a:off x="8247888" y="5065776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 monitoring, anchor-reset calendar, early payoff</a:t>
            </a:r>
            <a:endParaRPr lang="en-US" sz="108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required for the POC   ·   P1 = required for the first real client   ·   P2 = required to scale   ·   P3 = later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INVENTORY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must prove, in four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88236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82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Assessment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50876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intake → structured profile; document parsing (payslips, statements, Form 106, tax assessments); cross-document discrepancy detection; affordability engine; auxiliary cost modeling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D0F4E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012948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129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33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Construction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633472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 engine (Spitzer, equal-principal, balloon/grace); all 5 track types; Directive 329 compliance engine — hard gate; multi-objective optimizer; stress testing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1376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58184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Bureaucracy &amp; Pre-Approval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758184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 &amp; autonomous chasing; lender-ready file assembly; autonomous lender email under POA; pre-approval tracking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4882896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D0F4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526237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2623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88289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Tenders &amp; Negotiation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882896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multi-lender tender; offer parsing from unstructured replies; total-cost comparison; multi-round negotiation; counterparty memory — the compounding asset</a:t>
            </a:r>
            <a:endParaRPr lang="en-US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memory: the asset that cannot be bought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per-banker and per-branch behavioral model.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Responsiveness, concession patterns, tone preference, channel preference, what worked and what didn’t — recorded after every negotiation round and reused on the next file.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9096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Best-banker selection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09981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 file to the banker most likely to escalate a pricing exception internally — who carries the file matters more than which branch it enters.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0" name="Image 1" descr="/home/claude/deck2/icons/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0526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pressure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24281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competing offer gives the banker internal justification to request a pricing exception.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269480" y="1417320"/>
            <a:ext cx="4370832" cy="4251960"/>
          </a:xfrm>
          <a:prstGeom prst="roundRect">
            <a:avLst>
              <a:gd name="adj" fmla="val 2581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5438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P0 CAPABILITIES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43800" y="2084832"/>
            <a:ext cx="82296" cy="82296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754112" y="19385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multi-lender tender on an identical mix</a:t>
            </a:r>
            <a:endParaRPr lang="en-US" sz="1130" dirty="0"/>
          </a:p>
        </p:txBody>
      </p:sp>
      <p:sp>
        <p:nvSpPr>
          <p:cNvPr id="17" name="Shape 13"/>
          <p:cNvSpPr/>
          <p:nvPr/>
        </p:nvSpPr>
        <p:spPr>
          <a:xfrm>
            <a:off x="7543800" y="2743200"/>
            <a:ext cx="82296" cy="82296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54112" y="25968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offer parsing from free-text email, PDFs, tables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7543800" y="3401568"/>
            <a:ext cx="82296" cy="82296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54112" y="32552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comparison: total cost over life, not headline rate</a:t>
            </a:r>
            <a:endParaRPr lang="en-US" sz="1130" dirty="0"/>
          </a:p>
        </p:txBody>
      </p:sp>
      <p:sp>
        <p:nvSpPr>
          <p:cNvPr id="21" name="Shape 17"/>
          <p:cNvSpPr/>
          <p:nvPr/>
        </p:nvSpPr>
        <p:spPr>
          <a:xfrm>
            <a:off x="7543800" y="4059936"/>
            <a:ext cx="82296" cy="82296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54112" y="39136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autonomous negotiation</a:t>
            </a:r>
            <a:endParaRPr lang="en-US" sz="1130" dirty="0"/>
          </a:p>
        </p:txBody>
      </p:sp>
      <p:sp>
        <p:nvSpPr>
          <p:cNvPr id="23" name="Shape 19"/>
          <p:cNvSpPr/>
          <p:nvPr/>
        </p:nvSpPr>
        <p:spPr>
          <a:xfrm>
            <a:off x="7543800" y="4718304"/>
            <a:ext cx="82296" cy="82296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754112" y="45720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playbook: anchoring, competitive pressure, deadline use, walk-away framing</a:t>
            </a:r>
            <a:endParaRPr lang="en-US" sz="113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HARNESS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cross-cutting foundation, all P0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666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multi-week workflow state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6148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lives 4–8 weeks, restart-safe. Non-negotiable foundation.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3364992" y="1463040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645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1" name="Image 1" descr="/home/claude/deck2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7666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2402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follow-ups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76148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reply in 48h → follow up" is most of a broker’s calendar.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6181344" y="1463040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4224" y="1645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6" name="Image 2" descr="/home/claude/deck2/icons/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5" y="1766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22402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gateway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364224" y="276148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receive, thread, attach — dedicated domain, SPF/DKIM/DMARC, warmed reputation.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8997696" y="1463040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80576" y="164592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1" name="Image 3" descr="/home/claude/deck2/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77" y="17666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0576" y="22402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action ledger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276148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action logged, replayable, defensible.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548640" y="3776472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959352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6" name="Image 4" descr="/home/claude/deck2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08005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553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0749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Irreversible-action circuit breaker, spend caps, escalation triggers. Full autonomy needs bounds, not approvers.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3364992" y="3776472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47872" y="3959352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1" name="Image 5" descr="/home/claude/deck2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573" y="40800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47872" y="4553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lender environment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547872" y="50749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demo surface and the permanent eval/regression suite.</a:t>
            </a:r>
            <a:endParaRPr lang="en-US" sz="970" dirty="0"/>
          </a:p>
        </p:txBody>
      </p:sp>
      <p:sp>
        <p:nvSpPr>
          <p:cNvPr id="34" name="Shape 26"/>
          <p:cNvSpPr/>
          <p:nvPr/>
        </p:nvSpPr>
        <p:spPr>
          <a:xfrm>
            <a:off x="6181344" y="3776472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64224" y="3959352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6" name="Image 6" descr="/home/claude/deck2/icons/activi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925" y="408005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64224" y="4553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harness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6364224" y="50749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files, measurable correctness in CI from week one.</a:t>
            </a:r>
            <a:endParaRPr lang="en-US" sz="970" dirty="0"/>
          </a:p>
        </p:txBody>
      </p:sp>
      <p:sp>
        <p:nvSpPr>
          <p:cNvPr id="39" name="Shape 30"/>
          <p:cNvSpPr/>
          <p:nvPr/>
        </p:nvSpPr>
        <p:spPr>
          <a:xfrm>
            <a:off x="8997696" y="3776472"/>
            <a:ext cx="2679192" cy="2148840"/>
          </a:xfrm>
          <a:prstGeom prst="roundRect">
            <a:avLst>
              <a:gd name="adj" fmla="val 425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80576" y="3959352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41" name="Image 7" descr="/home/claude/deck2/icon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1277" y="4080053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80576" y="4553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Entity, episodic, semantic memory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9180576" y="50749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interaction history, market and tactical knowledge.</a:t>
            </a:r>
            <a:endParaRPr lang="en-US" sz="97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— 8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zero human intervention, ten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1417320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a Hebrew text conversation with a simulated borrower, extracting a complete financial profile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2313432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and parses real (de-identified) documents, reconciling them against the conversation — surfacing a planted discrepancy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3209544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affordability, maximum loan, purchase budget, and auxiliary costs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4105656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 candidate compliant mixes, stress-tests each, selects one with a written Hebrew rationale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5001768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a lender-ready file and emails a tender to 5 simulated lenders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84264" y="1417320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replies, normalizes to total-cost-over-life, runs 2+ negotiation rounds using competing offers as leverage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172200" y="2359152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84264" y="2313432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each simulated banker did into counterparty memory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172200" y="3255264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84264" y="3209544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Hebrew client report: offers compared, recommendation, reasoning, stress results, next steps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172200" y="4151376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84264" y="4105656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being killed and restarted at any point without losing or duplicating work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172200" y="5047488"/>
            <a:ext cx="384048" cy="38404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84264" y="5001768"/>
            <a:ext cx="4928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complete audit trail from which every number and message can be reconstructed</a:t>
            </a:r>
            <a:endParaRPr lang="en-US" sz="113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— 8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acceptance gates, and what’s deliberately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ACCEPTANCE GATES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329 violations across the full eval suite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99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999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numbers in client- or lender-facing output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95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8953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outbound messages present in the immutable ledger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914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47914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restart-safety by killing the orchestrator mid-tender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4370832" cy="4160520"/>
          </a:xfrm>
          <a:prstGeom prst="roundRect">
            <a:avLst>
              <a:gd name="adj" fmla="val 263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5438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FOR THE POC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05740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(weeks 9–12) · real banks · real clients · credit report intake · insurance · appraisal/legal coordination · refinance monitoring · WhatsApp · client portal beyond a bare chat UI · payment collection · non-bank lenders · open banking.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— 8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by week: financial core first, always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54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1–2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17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Financial Core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173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 engine, all 5 track types, Directive 329 rules engine, affordability model, 20 hand-computed golden scenarios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D0F4E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22199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221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2–3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0848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Pipeline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8483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Vision-model parsing for 8 Hebrew document types, RTL handling, cross-document reconciliation (parallel with financial core)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58368" y="2889504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8895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3–4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7523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Harness &amp; Intake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75234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workflows, tool registry, guardrails, Hebrew conversational intake, restart-safety test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D0F4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55701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5570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4–5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41985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Optimizer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41985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optimizer, stress-test battery, candidate generation with rationale, independent verification pass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58368" y="422452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42245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5–6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0873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Lender Environment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08736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lenders with distinct policy profiles, email gateway, realistic reply generation — permanent regression infrastructure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D0F4E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489204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48920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6–7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475488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&amp; Negotiation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475488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orchestration, offer parsing, negotiation agent, counterparty memory reads/writes, voice stub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58368" y="555955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55595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7–8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54223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Reporting, Eval &amp; Hardening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42239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client reports, full eval harness in CI, end-to-end run on 10 golden files, demo walkthrough</a:t>
            </a:r>
            <a:endParaRPr lang="en-US" sz="106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— 8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weeks is aggressive — three likely slip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2606040"/>
          </a:xfrm>
          <a:prstGeom prst="roundRect">
            <a:avLst>
              <a:gd name="adj" fmla="val 42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7627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 document parsing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Israeli payslips are visually chaotic and vary by payroll provider.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3337560"/>
            <a:ext cx="3191256" cy="0"/>
          </a:xfrm>
          <a:prstGeom prst="line">
            <a:avLst/>
          </a:prstGeom>
          <a:noFill/>
          <a:ln w="9525">
            <a:solidFill>
              <a:srgbClr val="D7B29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42900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collection starts before week 1 — the one task with no engineering dependency.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93592" cy="2606040"/>
          </a:xfrm>
          <a:prstGeom prst="roundRect">
            <a:avLst>
              <a:gd name="adj" fmla="val 42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98848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17627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quality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69748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an agent that negotiates well, not just politely, is open-ended research.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498848" y="3337560"/>
            <a:ext cx="3191256" cy="0"/>
          </a:xfrm>
          <a:prstGeom prst="line">
            <a:avLst/>
          </a:prstGeom>
          <a:noFill/>
          <a:ln w="9525">
            <a:solidFill>
              <a:srgbClr val="D7B2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342900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bar is "completes coherent rounds and uses competing offers as leverage," not "beats a human." That’s a Phase 1 measurement.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593592" cy="2606040"/>
          </a:xfrm>
          <a:prstGeom prst="roundRect">
            <a:avLst>
              <a:gd name="adj" fmla="val 42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17627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scope creep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69748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compliant mix space is large and over-engineering is tempting.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247888" y="3337560"/>
            <a:ext cx="3191256" cy="0"/>
          </a:xfrm>
          <a:prstGeom prst="line">
            <a:avLst/>
          </a:prstGeom>
          <a:noFill/>
          <a:ln w="9525">
            <a:solidFill>
              <a:srgbClr val="D7B29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342900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candidate-generation budget — 3 candidates is the deliverable.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553712"/>
            <a:ext cx="621792" cy="621792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24" name="Image 0" descr="/home/claude/deck2/icons/scis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70" y="4702942"/>
            <a:ext cx="323332" cy="3233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600200" y="4480560"/>
            <a:ext cx="9829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30" b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schedule must be cut, cut in this order:  </a:t>
            </a:r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reduce simulated lenders from 5 to 3, (2) reduce negotiation to a single round, (3) narrow document types from 8 to 5. Never cut: the financial core, the compliance engine, the audit ledger, or restart safety.</a:t>
            </a:r>
            <a:endParaRPr lang="en-US" sz="123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POST-POC PHASES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voice escalation to adjacencies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774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0.5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Escalation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1188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STT/TTS, turn-taking, telephony. Gate: complete a full negotiation round by phone with the simulated banker who insists on calls.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364992" y="146304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3" name="Image 1" descr="/home/claude/deck2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46" y="17958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47872" y="23774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2651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297180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Friendly-File Pilot &amp; Soft Launch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547872" y="361188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 refinance files, executed autonomously against real banks, human observing but not assisting. Gate: ≥3 funded, zero compliance violations.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6181344" y="146304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64224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0" name="Image 2" descr="/home/claude/deck2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98" y="1795882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64224" y="23774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2651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297180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6364224" y="361188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purchase files, Mortgage Watch, channel partner tooling, complex credit, non-bank lenders, public rate benchmark.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8997696" y="146304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0576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7" name="Image 3" descr="/home/claude/deck2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250" y="1795882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180576" y="23774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9180576" y="2651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180576" y="297180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Adjacencies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9180576" y="361188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tender (license-gated), lawyer/title coordination, loan consolidation, lender-side SaaS (regulatory-gated).</a:t>
            </a:r>
            <a:endParaRPr lang="en-US" sz="103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HARNESS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correctness, in CI from week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02336"/>
          </a:xfrm>
          <a:prstGeom prst="rect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417320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77072" y="14173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965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correctness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19656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hand-computed scenarios, independently verified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8577072" y="18196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exact to the agora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91672" cy="51206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3317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331720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generation of near-boundary structures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3317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violations, permanently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437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843784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60-document labeled corpus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8577072" y="284378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income fields, &gt;98% identity fields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55848"/>
            <a:ext cx="11091672" cy="51206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35584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55848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inconsistencies across document sets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335584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caught, &lt;5% false positive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8679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quality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867912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brute-force optimal on reduced space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8577072" y="386791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0.5% of optimal cost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091672" cy="51206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37997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efficacy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4379976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lenders with known concession curves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43799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of available concession captured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89204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durability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892040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testing: kill at N points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8577072" y="489204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recovery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404104"/>
            <a:ext cx="11091672" cy="51206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540410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completeness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5404104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every output from the ledger alone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8577072" y="540410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lenders give a ground truth for negotiation quality that does not exist with real banks — this environment stays more valuable for improving negotiation than production traffic.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CRITERIA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in advance, before sunk-cost pressure builds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36776"/>
            <a:ext cx="512064" cy="512064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5" name="Image 0" descr="/home/claude/deck2/icons/sto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759671"/>
            <a:ext cx="266273" cy="2662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systematically reject or filter the channel</a:t>
            </a:r>
            <a:endParaRPr lang="en-US" sz="128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463040"/>
            <a:ext cx="5532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human-relay fallback erodes the cost advantage below ~40%. The business becomes a normal brokerage with better software.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68296"/>
            <a:ext cx="11091672" cy="859536"/>
          </a:xfrm>
          <a:prstGeom prst="roundRect">
            <a:avLst>
              <a:gd name="adj" fmla="val 6383"/>
            </a:avLst>
          </a:prstGeom>
          <a:solidFill>
            <a:srgbClr val="D0F4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2542032"/>
            <a:ext cx="512064" cy="512064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10" name="Image 1" descr="/home/claude/deck2/icons/sto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" y="2664927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68296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rate stays under 25%</a:t>
            </a:r>
            <a:endParaRPr lang="en-US" sz="128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368296"/>
            <a:ext cx="5532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15 real files. Borrowers or banks will not complete a file without a human.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" y="3447288"/>
            <a:ext cx="512064" cy="512064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14" name="Image 2" descr="/home/claude/deck2/icons/stop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3570183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355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violation or material error reaches a real client</a:t>
            </a:r>
            <a:endParaRPr lang="en-US" sz="128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3273552"/>
            <a:ext cx="5532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remediate, and re-examine whether full autonomy is the right target before resuming.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178808"/>
            <a:ext cx="11091672" cy="859536"/>
          </a:xfrm>
          <a:prstGeom prst="roundRect">
            <a:avLst>
              <a:gd name="adj" fmla="val 6383"/>
            </a:avLst>
          </a:prstGeom>
          <a:solidFill>
            <a:srgbClr val="D0F4EA"/>
          </a:solidFill>
          <a:ln/>
        </p:spPr>
      </p:sp>
      <p:sp>
        <p:nvSpPr>
          <p:cNvPr id="18" name="Shape 13"/>
          <p:cNvSpPr/>
          <p:nvPr/>
        </p:nvSpPr>
        <p:spPr>
          <a:xfrm>
            <a:off x="685800" y="4352544"/>
            <a:ext cx="512064" cy="512064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19" name="Image 3" descr="/home/claude/deck2/icons/stop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4475439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178808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Achieved-rate delta is worse than −0.10%</a:t>
            </a:r>
            <a:endParaRPr lang="en-US" sz="128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4178808"/>
            <a:ext cx="5532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cannot negotiate materially better than a borrower alone, the value is convenience only — that does not support the price.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5257800"/>
            <a:ext cx="512064" cy="512064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23" name="Image 4" descr="/home/claude/deck2/icons/stop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5380695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5084064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competitor ships genuine full autonomy first</a:t>
            </a:r>
            <a:endParaRPr lang="en-US" sz="1280" dirty="0"/>
          </a:p>
        </p:txBody>
      </p:sp>
      <p:sp>
        <p:nvSpPr>
          <p:cNvPr id="25" name="Text 18"/>
          <p:cNvSpPr txBox="1"/>
          <p:nvPr/>
        </p:nvSpPr>
        <p:spPr>
          <a:xfrm>
            <a:off x="5989320" y="5084064"/>
            <a:ext cx="5532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reaches meaningful volume. Reassess as an acquisition or partnership rather than a race.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PRE-WORK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starts before Week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2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 assessment of the pending licensing bill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9842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nothing now; determines Phase 3 structure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0" name="Image 1" descr="/home/claude/deck2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70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Confirmatory legal opinion (₪12–20K)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852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template and consent flows — blocks the friendly-file pilot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4" name="Image 2" descr="/home/claude/deck2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387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60+ de-identified financial documents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721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8+ formats — the single most schedule-critical input, no engineering dependency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8" name="Image 3" descr="/home/claude/deck2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4074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verified Directive 329 v13 parameters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45902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Sanity-checked by a mortgage professional against the live directive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537960" y="1691640"/>
            <a:ext cx="5102352" cy="4023360"/>
          </a:xfrm>
          <a:prstGeom prst="roundRect">
            <a:avLst>
              <a:gd name="adj" fmla="val 3182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858000" y="1965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GATE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human intervention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28346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a file. The system carries it end-to-end through intake, parsing, mix optimization, tender, negotiation, and a client report — with a complete audit trail.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858000" y="3931920"/>
            <a:ext cx="4480560" cy="0"/>
          </a:xfrm>
          <a:prstGeom prst="line">
            <a:avLst/>
          </a:prstGeom>
          <a:noFill/>
          <a:ln w="12700">
            <a:solidFill>
              <a:srgbClr val="3A508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0" y="41148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BUSINESS_PLAN.md, TECHNICAL_ROADMAP.md, REGULATORY_STRATEGY.md, and REGULATORY_ANSWERS.md for full supporting detail.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Product Roadmap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2026-08-30T21:24:09Z</dcterms:created>
  <dcterms:modified xsi:type="dcterms:W3CDTF">2026-08-30T21:24:09Z</dcterms:modified>
</cp:coreProperties>
</file>