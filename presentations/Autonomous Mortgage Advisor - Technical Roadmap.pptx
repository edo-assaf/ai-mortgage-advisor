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E87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2377440" cy="2377440"/>
          </a:xfrm>
          <a:prstGeom prst="ellipse">
            <a:avLst/>
          </a:prstGeom>
          <a:solidFill>
            <a:srgbClr val="0A246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-914400"/>
            <a:ext cx="2194560" cy="2194560"/>
          </a:xfrm>
          <a:prstGeom prst="ellipse">
            <a:avLst/>
          </a:prstGeom>
          <a:solidFill>
            <a:srgbClr val="EA901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A9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502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PRE-POC · NO CODE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Roadmap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stack, data model, API surface, and cost model for an autonomous mortgage file.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CORE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Decimal · OR-Tools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27,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one strictly enforced boundary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mortgage file is a 4–8 week stateful negotiation: wait for humans, act on timers, survive restarts, never duplicate a side effect sent to a bank.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39696"/>
            <a:ext cx="640080" cy="640080"/>
          </a:xfrm>
          <a:prstGeom prst="ellipse">
            <a:avLst/>
          </a:prstGeom>
          <a:solidFill>
            <a:srgbClr val="1E87FF"/>
          </a:solidFill>
          <a:ln/>
        </p:spPr>
      </p:sp>
      <p:pic>
        <p:nvPicPr>
          <p:cNvPr id="7" name="Image 0" descr="/home/claude/deck3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2293315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29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Agent Harness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920240"/>
            <a:ext cx="5806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documents, judgment, strategy, negotiation. Never computes or decides compliance.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548640" y="3090672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3310128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3" name="Image 1" descr="/home/claude/deck3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3463747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Durable Orchestration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60020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CONTROL FLOW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3090672"/>
            <a:ext cx="5806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state, timers, retries, replay, exactly-once side effects, audit ledger.</a:t>
            </a:r>
            <a:endParaRPr lang="en-US" sz="1130" dirty="0"/>
          </a:p>
        </p:txBody>
      </p:sp>
      <p:sp>
        <p:nvSpPr>
          <p:cNvPr id="17" name="Shape 13"/>
          <p:cNvSpPr/>
          <p:nvPr/>
        </p:nvSpPr>
        <p:spPr>
          <a:xfrm>
            <a:off x="548640" y="426110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" y="4480560"/>
            <a:ext cx="640080" cy="640080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19" name="Image 2" descr="/home/claude/deck3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463417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0020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Financial Core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4718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VERIFIED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4261104"/>
            <a:ext cx="5806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Amortization, optimization, compliance, stress testing. Pure functions. No LLM. No network. 100% tested.</a:t>
            </a:r>
            <a:endParaRPr lang="en-US" sz="1130" dirty="0"/>
          </a:p>
        </p:txBody>
      </p:sp>
      <p:sp>
        <p:nvSpPr>
          <p:cNvPr id="23" name="Shape 18"/>
          <p:cNvSpPr/>
          <p:nvPr/>
        </p:nvSpPr>
        <p:spPr>
          <a:xfrm>
            <a:off x="548640" y="55778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822960" y="55778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A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 and lender-facing numeric fields bind only to typed Layer 1 return values. A CI check fails the build if a numeric field in an outbound template is bound to model output.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file moves through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21408" cy="4526280"/>
          </a:xfrm>
          <a:prstGeom prst="roundRect">
            <a:avLst>
              <a:gd name="adj" fmla="val 431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1600200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3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452" y="1727484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240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Interfaces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685800" y="2898648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Hebrew, text-first</a:t>
            </a:r>
            <a:endParaRPr lang="en-US" sz="890" dirty="0"/>
          </a:p>
        </p:txBody>
      </p:sp>
      <p:sp>
        <p:nvSpPr>
          <p:cNvPr id="10" name="Shape 7"/>
          <p:cNvSpPr/>
          <p:nvPr/>
        </p:nvSpPr>
        <p:spPr>
          <a:xfrm>
            <a:off x="685800" y="3557016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41985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payslips, statements, IDs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2816352" y="1417320"/>
            <a:ext cx="2121408" cy="4526280"/>
          </a:xfrm>
          <a:prstGeom prst="roundRect">
            <a:avLst>
              <a:gd name="adj" fmla="val 431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1600200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4" name="Image 1" descr="/home/claude/deck3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164" y="1727484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240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Orchestration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2953512" y="2898648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090672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(workflow engine)</a:t>
            </a:r>
            <a:endParaRPr lang="en-US" sz="890" dirty="0"/>
          </a:p>
        </p:txBody>
      </p:sp>
      <p:sp>
        <p:nvSpPr>
          <p:cNvPr id="18" name="Shape 14"/>
          <p:cNvSpPr/>
          <p:nvPr/>
        </p:nvSpPr>
        <p:spPr>
          <a:xfrm>
            <a:off x="2953512" y="3557016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090672" y="341985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890" dirty="0"/>
          </a:p>
        </p:txBody>
      </p:sp>
      <p:sp>
        <p:nvSpPr>
          <p:cNvPr id="20" name="Shape 16"/>
          <p:cNvSpPr/>
          <p:nvPr/>
        </p:nvSpPr>
        <p:spPr>
          <a:xfrm>
            <a:off x="2953512" y="4215384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090672" y="407822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(docs, reports)</a:t>
            </a:r>
            <a:endParaRPr lang="en-US" sz="890" dirty="0"/>
          </a:p>
        </p:txBody>
      </p:sp>
      <p:sp>
        <p:nvSpPr>
          <p:cNvPr id="22" name="Shape 18"/>
          <p:cNvSpPr/>
          <p:nvPr/>
        </p:nvSpPr>
        <p:spPr>
          <a:xfrm>
            <a:off x="2953512" y="4873752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090672" y="473659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action ledger</a:t>
            </a:r>
            <a:endParaRPr lang="en-US" sz="890" dirty="0"/>
          </a:p>
        </p:txBody>
      </p:sp>
      <p:sp>
        <p:nvSpPr>
          <p:cNvPr id="24" name="Shape 20"/>
          <p:cNvSpPr/>
          <p:nvPr/>
        </p:nvSpPr>
        <p:spPr>
          <a:xfrm>
            <a:off x="5084064" y="1417320"/>
            <a:ext cx="2121408" cy="4526280"/>
          </a:xfrm>
          <a:prstGeom prst="roundRect">
            <a:avLst>
              <a:gd name="adj" fmla="val 431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879592" y="1600200"/>
            <a:ext cx="530352" cy="530352"/>
          </a:xfrm>
          <a:prstGeom prst="ellipse">
            <a:avLst/>
          </a:prstGeom>
          <a:solidFill>
            <a:srgbClr val="1E87FF"/>
          </a:solidFill>
          <a:ln/>
        </p:spPr>
      </p:sp>
      <p:pic>
        <p:nvPicPr>
          <p:cNvPr id="26" name="Image 2" descr="/home/claude/deck3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876" y="1727484"/>
            <a:ext cx="275783" cy="27578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193792" y="2240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Agent Harness</a:t>
            </a:r>
            <a:endParaRPr lang="en-US" sz="1180" dirty="0"/>
          </a:p>
        </p:txBody>
      </p:sp>
      <p:sp>
        <p:nvSpPr>
          <p:cNvPr id="28" name="Shape 23"/>
          <p:cNvSpPr/>
          <p:nvPr/>
        </p:nvSpPr>
        <p:spPr>
          <a:xfrm>
            <a:off x="5221224" y="2898648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358384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 (routing)</a:t>
            </a:r>
            <a:endParaRPr lang="en-US" sz="890" dirty="0"/>
          </a:p>
        </p:txBody>
      </p:sp>
      <p:sp>
        <p:nvSpPr>
          <p:cNvPr id="30" name="Shape 25"/>
          <p:cNvSpPr/>
          <p:nvPr/>
        </p:nvSpPr>
        <p:spPr>
          <a:xfrm>
            <a:off x="5221224" y="3557016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5358384" y="341985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/ Document (VLM) / Negotiation / Verification / Report agents</a:t>
            </a:r>
            <a:endParaRPr lang="en-US" sz="890" dirty="0"/>
          </a:p>
        </p:txBody>
      </p:sp>
      <p:sp>
        <p:nvSpPr>
          <p:cNvPr id="32" name="Shape 27"/>
          <p:cNvSpPr/>
          <p:nvPr/>
        </p:nvSpPr>
        <p:spPr>
          <a:xfrm>
            <a:off x="5221224" y="4215384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358384" y="407822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service</a:t>
            </a:r>
            <a:endParaRPr lang="en-US" sz="890" dirty="0"/>
          </a:p>
        </p:txBody>
      </p:sp>
      <p:sp>
        <p:nvSpPr>
          <p:cNvPr id="34" name="Shape 29"/>
          <p:cNvSpPr/>
          <p:nvPr/>
        </p:nvSpPr>
        <p:spPr>
          <a:xfrm>
            <a:off x="7351776" y="1417320"/>
            <a:ext cx="2121408" cy="4526280"/>
          </a:xfrm>
          <a:prstGeom prst="roundRect">
            <a:avLst>
              <a:gd name="adj" fmla="val 431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147304" y="1600200"/>
            <a:ext cx="530352" cy="530352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36" name="Image 3" descr="/home/claude/deck3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588" y="1727484"/>
            <a:ext cx="275783" cy="275783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461504" y="2240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Financial Core</a:t>
            </a:r>
            <a:endParaRPr lang="en-US" sz="1180" dirty="0"/>
          </a:p>
        </p:txBody>
      </p:sp>
      <p:sp>
        <p:nvSpPr>
          <p:cNvPr id="38" name="Shape 32"/>
          <p:cNvSpPr/>
          <p:nvPr/>
        </p:nvSpPr>
        <p:spPr>
          <a:xfrm>
            <a:off x="7488936" y="2898648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626096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engine: amortization, optimizer, stress (pure Decimal)</a:t>
            </a:r>
            <a:endParaRPr lang="en-US" sz="890" dirty="0"/>
          </a:p>
        </p:txBody>
      </p:sp>
      <p:sp>
        <p:nvSpPr>
          <p:cNvPr id="40" name="Shape 34"/>
          <p:cNvSpPr/>
          <p:nvPr/>
        </p:nvSpPr>
        <p:spPr>
          <a:xfrm>
            <a:off x="7488936" y="3557016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626096" y="341985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engine: Directive 329 hard gate</a:t>
            </a:r>
            <a:endParaRPr lang="en-US" sz="890" dirty="0"/>
          </a:p>
        </p:txBody>
      </p:sp>
      <p:sp>
        <p:nvSpPr>
          <p:cNvPr id="42" name="Shape 36"/>
          <p:cNvSpPr/>
          <p:nvPr/>
        </p:nvSpPr>
        <p:spPr>
          <a:xfrm>
            <a:off x="7488936" y="4215384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7626096" y="407822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service: BoI rates, CPI</a:t>
            </a:r>
            <a:endParaRPr lang="en-US" sz="890" dirty="0"/>
          </a:p>
        </p:txBody>
      </p:sp>
      <p:sp>
        <p:nvSpPr>
          <p:cNvPr id="44" name="Shape 38"/>
          <p:cNvSpPr/>
          <p:nvPr/>
        </p:nvSpPr>
        <p:spPr>
          <a:xfrm>
            <a:off x="9619488" y="1417320"/>
            <a:ext cx="2121408" cy="4526280"/>
          </a:xfrm>
          <a:prstGeom prst="roundRect">
            <a:avLst>
              <a:gd name="adj" fmla="val 4310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10415016" y="1600200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46" name="Image 4" descr="/home/claude/deck3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300" y="1727484"/>
            <a:ext cx="275783" cy="275783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729216" y="22402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 Channels</a:t>
            </a:r>
            <a:endParaRPr lang="en-US" sz="1180" dirty="0"/>
          </a:p>
        </p:txBody>
      </p:sp>
      <p:sp>
        <p:nvSpPr>
          <p:cNvPr id="48" name="Shape 41"/>
          <p:cNvSpPr/>
          <p:nvPr/>
        </p:nvSpPr>
        <p:spPr>
          <a:xfrm>
            <a:off x="9756648" y="2898648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9893808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service (circuit breakers, send caps)</a:t>
            </a:r>
            <a:endParaRPr lang="en-US" sz="890" dirty="0"/>
          </a:p>
        </p:txBody>
      </p:sp>
      <p:sp>
        <p:nvSpPr>
          <p:cNvPr id="50" name="Shape 43"/>
          <p:cNvSpPr/>
          <p:nvPr/>
        </p:nvSpPr>
        <p:spPr>
          <a:xfrm>
            <a:off x="9756648" y="3557016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9893808" y="341985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gateway: email, WhatsApp</a:t>
            </a:r>
            <a:endParaRPr lang="en-US" sz="890" dirty="0"/>
          </a:p>
        </p:txBody>
      </p:sp>
      <p:sp>
        <p:nvSpPr>
          <p:cNvPr id="52" name="Shape 45"/>
          <p:cNvSpPr/>
          <p:nvPr/>
        </p:nvSpPr>
        <p:spPr>
          <a:xfrm>
            <a:off x="9756648" y="4215384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9893808" y="407822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stack: Hebrew STT/TTS</a:t>
            </a:r>
            <a:endParaRPr lang="en-US" sz="890" dirty="0"/>
          </a:p>
        </p:txBody>
      </p:sp>
      <p:sp>
        <p:nvSpPr>
          <p:cNvPr id="54" name="Shape 47"/>
          <p:cNvSpPr/>
          <p:nvPr/>
        </p:nvSpPr>
        <p:spPr>
          <a:xfrm>
            <a:off x="9756648" y="4873752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9893808" y="4736592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Lenders: 5 simulated + real banks</a:t>
            </a:r>
            <a:endParaRPr lang="en-US" sz="890" dirty="0"/>
          </a:p>
        </p:txBody>
      </p:sp>
      <p:sp>
        <p:nvSpPr>
          <p:cNvPr id="56" name="Text 49"/>
          <p:cNvSpPr txBox="1"/>
          <p:nvPr/>
        </p:nvSpPr>
        <p:spPr>
          <a:xfrm>
            <a:off x="548640" y="6080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crossing into or out of Layer 1 is a typed contract. Every outbound message passes the Guardrail Service and lands in the Action Ledger before transmission. Red (L1) never calls an LLM or touches the network; purple (L3) never produces a number that leaves the system.</a:t>
            </a:r>
            <a:endParaRPr lang="en-US" sz="1050" dirty="0"/>
          </a:p>
        </p:txBody>
      </p:sp>
      <p:sp>
        <p:nvSpPr>
          <p:cNvPr id="57" name="Text 50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58" name="Text 51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Temporal workflow per file, 12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14173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4992" y="141732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4992" y="14173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44184" y="14173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1344" y="141732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81344" y="14173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60536" y="141732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97696" y="141732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14173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46888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27832" y="24688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64992" y="246888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64992" y="246888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TENDER_OPEN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44184" y="24688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1344" y="246888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81344" y="246888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0536" y="246888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97696" y="246888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97696" y="246888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52044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5204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227832" y="352044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64992" y="352044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64992" y="35204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44184" y="352044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81344" y="352044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D0F4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81344" y="35204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60536" y="352044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97696" y="3520440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0A24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97696" y="35204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2960" y="4919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CHECKPOINTS + CHILD WORKFLOWS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transition is a durable checkpoint. Each lender in the tender runs as its own child workflow with independent timers and retry policy — one unresponsive bank cannot stall the file.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Timer-driven behavior: a broker’s calendar, automated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20624"/>
          </a:xfrm>
          <a:prstGeom prst="rect">
            <a:avLst/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4630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8366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lender reply in 48h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8366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follow-up email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91672" cy="60350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871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lender reply in 96h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871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Escalate: different contact, or voice</a:t>
            </a:r>
            <a:endParaRPr lang="en-US" sz="118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9067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document missing 24h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906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1672" cy="60350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69417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silent 72h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69417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</a:t>
            </a:r>
            <a:endParaRPr lang="en-US" sz="118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976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expiry approaching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2976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forcing, use as negotiation leverage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91672" cy="60350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90118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reset date approaching (post-funding)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9011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 analysis</a:t>
            </a:r>
            <a:endParaRPr lang="en-US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50468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 rate change published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50468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refinance scan</a:t>
            </a:r>
            <a:endParaRPr lang="en-US" sz="118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stack, three layers of discipline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4572000"/>
          </a:xfrm>
          <a:prstGeom prst="roundRect">
            <a:avLst>
              <a:gd name="adj" fmla="val 305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3/icon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7958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317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Orchestration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" y="3008376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2880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self-hosted (POC) → Temporal Cloud (Phase 1)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" y="3630168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32688" y="3502152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pgvector: files, profiles, offers, memory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8096" y="4251960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32688" y="4123944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action ledger: append-only, hash-chained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" y="4873752"/>
            <a:ext cx="64008" cy="64008"/>
          </a:xfrm>
          <a:prstGeom prst="ellipse">
            <a:avLst/>
          </a:prstGeom>
          <a:solidFill>
            <a:srgbClr val="0A246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2688" y="474573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caching, rate limiting — not the workflow queue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97680" y="1463040"/>
            <a:ext cx="3593592" cy="4572000"/>
          </a:xfrm>
          <a:prstGeom prst="roundRect">
            <a:avLst>
              <a:gd name="adj" fmla="val 305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98848" y="1664208"/>
            <a:ext cx="548640" cy="548640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18" name="Image 1" descr="/home/claude/deck3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1795882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98848" y="23317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Financial Core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17136" y="3008376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81728" y="2880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pure functions, zero I/O, zero LLM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17136" y="3630168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681728" y="3502152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throughout — floats banned by lint rule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17136" y="4251960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681728" y="4123944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 optimizer + brute-force oracle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517136" y="4873752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681728" y="474573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engine, 100% branch coverage, cited to Directive 329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17136" y="5495544"/>
            <a:ext cx="64008" cy="64008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681728" y="53675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 (Hypothesis) on top of examples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046720" y="1463040"/>
            <a:ext cx="3593592" cy="4572000"/>
          </a:xfrm>
          <a:prstGeom prst="roundRect">
            <a:avLst>
              <a:gd name="adj" fmla="val 305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247888" y="1664208"/>
            <a:ext cx="548640" cy="548640"/>
          </a:xfrm>
          <a:prstGeom prst="ellipse">
            <a:avLst/>
          </a:prstGeom>
          <a:solidFill>
            <a:srgbClr val="1E87FF"/>
          </a:solidFill>
          <a:ln/>
        </p:spPr>
      </p:sp>
      <p:pic>
        <p:nvPicPr>
          <p:cNvPr id="32" name="Image 2" descr="/home/claude/deck3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1795882"/>
            <a:ext cx="285293" cy="28529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247888" y="23317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Agent Harness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8266176" y="3008376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430768" y="2880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FastAPI; structured outputs (Pydantic)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266176" y="3630168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430768" y="3502152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tiering: frontier / mid / vision / small, per task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266176" y="4251960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430768" y="4123944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on stable context — dominant cost lever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266176" y="4873752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430768" y="474573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Langfuse: tracing, per-file cost, prompt versioning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266176" y="5495544"/>
            <a:ext cx="64008" cy="64008"/>
          </a:xfrm>
          <a:prstGeom prst="ellipse">
            <a:avLst/>
          </a:prstGeom>
          <a:solidFill>
            <a:srgbClr val="1E87FF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430768" y="53675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specialists; no specialist-to-specialist calls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&amp; 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modest infrastructure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pgvector</a:t>
            </a:r>
            <a:endParaRPr lang="en-US" sz="123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842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profiles, extracted fields, offers, contacts, memory embeddings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action ledger</a:t>
            </a:r>
            <a:endParaRPr lang="en-US" sz="123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614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hash-chained. Every action, message, and L1 computation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(MinIO / S3)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87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documents, generated reports, call recordings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3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159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rate limiting, ephemeral session state — not the workflow queue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 STACK (docker-compose)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93792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worker-agents · worker-financial · worker-comms · financial-verifier · voice · lender-sim · temporal + temporal-ui · postgres (pgvector) · redis · minio · mailhog · langfuse + prometheus + grafana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178040" y="1371600"/>
            <a:ext cx="4462272" cy="4709160"/>
          </a:xfrm>
          <a:prstGeom prst="roundRect">
            <a:avLst>
              <a:gd name="adj" fmla="val 2459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0664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(POC → PHASE 1)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workers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157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small instances — long-lived, low CPU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487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7249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→ Temporal Cloud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0540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3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291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Single-AZ → Multi-AZ, encrypted, PITR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3858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single node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4187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4256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encrypted, versioned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754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GPU</a:t>
            </a:r>
            <a:endParaRPr lang="en-US" sz="113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4992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 serverless, scale-to-zero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5321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13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5559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Prometheus + Grafana</a:t>
            </a:r>
            <a:endParaRPr lang="en-US" sz="98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GATEWAY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Text-first by design, self-hosted Hebrew voice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3/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77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17720" y="16733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17720" y="16733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6712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warmed domain, SPF/DKIM/DMARC, threading. Deliverability is first-class — a cold domain to bank addresses is a spam-filter magnet.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3" name="Image 1" descr="/home/claude/deck3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7775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Chat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0241280" y="16733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241280" y="16733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216712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intake, text-first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548640" y="3319272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547872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0" name="Image 2" descr="/home/claude/deck3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67954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3502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617720" y="357530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617720" y="35753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Wk 9–12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0690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trunk, Israeli DID. STT: ivrit-ai Whisper (faster-whisper, ~$0.03/hr). TTS: BlueTTS/MamboTTS, local ONNX. VAD: Silero + custom barge-in.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6172200" y="3319272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3547872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7" name="Image 3" descr="/home/claude/deck3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3679546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32320" y="3502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10241280" y="357530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10241280" y="35753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6400800" y="40690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Borrower-side only, via WhatsApp Business API</a:t>
            </a:r>
            <a:endParaRPr lang="en-US" sz="103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&lt;800ms perceived (STT partials + speculative LLM start + TTS first-chunk streaming) — the primary technical risk of the voice phase. Recording: full, encrypted, lawful notice, one-party consent.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SERVICE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needs bounds, not approvers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3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092" y="1791492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04288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Irreversible-action circuit breaker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16352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acceptances, signatures, rate locks require a signed borrower mandate token. Absent one, the action refuses and escalates to the client.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664208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1" name="Image 1" descr="/home/claude/deck3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32" y="1791492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304288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cap per file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816352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on LLM/voice spend. On breach: pause workflow, alert.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664208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6" name="Image 2" descr="/home/claude/deck3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172" y="1791492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47888" y="2304288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rate limits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816352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lender, per institution, per hour and per day. Protects deliverability.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69080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1" name="Image 3" descr="/home/claude/deck3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196364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7091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assertion gate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5221224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outbound claim must resolve to a validated profile value with a document provenance chain. Unresolvable claims block the send.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4297680" y="3867912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069080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6" name="Image 4" descr="/home/claude/deck3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132" y="4196364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98848" y="47091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gate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5221224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reaches a lender or client without passing the compliance engine. Not bypassable by configuration.</a:t>
            </a:r>
            <a:endParaRPr lang="en-US" sz="1020" dirty="0"/>
          </a:p>
        </p:txBody>
      </p:sp>
      <p:sp>
        <p:nvSpPr>
          <p:cNvPr id="29" name="Shape 22"/>
          <p:cNvSpPr/>
          <p:nvPr/>
        </p:nvSpPr>
        <p:spPr>
          <a:xfrm>
            <a:off x="8046720" y="3867912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069080"/>
            <a:ext cx="530352" cy="53035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1" name="Image 5" descr="/home/claude/deck3/icons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172" y="4196364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47888" y="47091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halt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47888" y="5221224"/>
            <a:ext cx="3191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monitors on recommendations. A significant outlier halts for review.</a:t>
            </a:r>
            <a:endParaRPr lang="en-US" sz="102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DECISIONS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decisions that shape the system (1 of 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for durable orchestration</a:t>
            </a:r>
            <a:endParaRPr lang="en-US" sz="123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41732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Celery, not Redis Streams, not a Postgres state machine. Durable timers, exactly-once side effects, replayable history = the audit trail.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D0F4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24028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4028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computes or adjudicates compliance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24028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arithmetic and regulatory evaluation live in Layer 1, enforced by CI, not convention.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06324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recomputation before anything reaches a client</a:t>
            </a:r>
            <a:endParaRPr lang="en-US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6324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independently written implementation recomputes every structure. Disagreement halts the file.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D0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88620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88620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lenders are production infrastructure</a:t>
            </a:r>
            <a:endParaRPr lang="en-US" sz="123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88620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first-class, with their own tests — not POC scaffolding. Gives negotiation a measurable ground truth.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0916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70916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Text-first, voice on escalation</a:t>
            </a:r>
            <a:endParaRPr lang="en-US" sz="123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70916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cheaper, auditable, asynchronous. Escalation boundary defined and stubbed in the POC (week 7).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D0F4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53212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53212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Hebrew voice</a:t>
            </a:r>
            <a:endParaRPr lang="en-US" sz="123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553212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ivrit-ai Whisper + BlueTTS/MamboTTS on scale-to-zero GPU. Consistent brand voice; STT ~$0.03/hr.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DECISIONS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more decisions (2 of 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with specialists, not a swarm</a:t>
            </a:r>
            <a:endParaRPr lang="en-US" sz="123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41732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specialist-to-specialist calls. All coordination flows through Temporal — checkpointed, replayable, auditable.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D0F4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24028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4028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client funds, ever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24028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never holds, transfers, or accesses borrower or lender funds. Fee collection via standard payment processor only.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06324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hash-chained action ledger</a:t>
            </a:r>
            <a:endParaRPr lang="en-US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6324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message, and L1 computation, append-only. Hash chaining proves the record hasn’t been altered.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D0F4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88620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88620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lender portal automation, no credential handling</a:t>
            </a:r>
            <a:endParaRPr lang="en-US" sz="123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88620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interacts exclusively over email and phone. No delegated banking credentials in the system. Deferred to Phase 4.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0916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70916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only, floats banned in financial code</a:t>
            </a:r>
            <a:endParaRPr lang="en-US" sz="123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70916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monetary arithmetic in Decimal with explicit rounding per operation, matching Israeli banking convention.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D0F4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532120"/>
            <a:ext cx="502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532120"/>
            <a:ext cx="3246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of advisor identities (Phase 3)</a:t>
            </a:r>
            <a:endParaRPr lang="en-US" sz="123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553212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identity maps to a real registered entity. Uniqueness on (institution, branch) and (borrower, institution) — a DB index, not a policy check.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entities — 16 tables, one is the moat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380744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91056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state, Temporal workflow ID, borrower ref, segment, product, fee terms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88236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915668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borrower_profile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25980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profile; every field carries source, confidence, validation, borrower confirmation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450592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660904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object-store ref, extraction result, confidence per field, validation flags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958084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985516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195828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values across sources, severity, resolution and how resolved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520440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mix_candidate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730752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composition, computed metrics, stress results, compliance result w/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027932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4055364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65676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Participating lenders, submitted mix, per-lender child workflow refs, round count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590288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800600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Lender, round, raw reply ref, parsed terms, normalized total cost, parse confidence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5097780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5125212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negotiation_round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335524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 applied, leverage used, outcome, concession achieved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1380744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81928" y="1591056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banker: institution, branch, role, channel preference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888236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81928" y="1915668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contact_memory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81928" y="2125980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latency, concession behavior by round, tone, tactics that worked — the moat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81928" y="2450592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institution_policy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81928" y="2660904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lender patterns: risk appetite, margin discretion, document idiosyncrasies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958084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81928" y="2985516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action_ledger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81928" y="3195828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hash-chained. Actor, action, inputs, outputs, timestamp, prior hash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3520440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mandate_token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81928" y="3730752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Borrower-signed authorization scoped to a specific irreversible action class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4027932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81928" y="4055364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advisor_identity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281928" y="4265676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(P3) Real registered entity — registration number, domain, phone, address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281928" y="4590288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identity_assignment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281928" y="4800600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(P3) Unique on (institution, branch) and (borrower, institution)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5097780"/>
            <a:ext cx="5440680" cy="53492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81928" y="5125212"/>
            <a:ext cx="5221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watch_subscription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81928" y="5335524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loan structure, anchor reset calendar, trigger thresholds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EA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contact_memory:  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advisor knows ~40 bankers per career. At 150 files/month across 5+ lenders, this system accumulates structured behavioral data on hundreds within a year.</a:t>
            </a:r>
            <a:endParaRPr lang="en-US" sz="118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SURFACE (POC)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lifecycle endpoints + a public-shaped compute API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LIFECYCLE  ·  /api/v1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1640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69164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mortgage 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6309360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8483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8483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084832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state, progress, current stage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7802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78024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/files/{id}/messages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47802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chat turn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6309360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87121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71216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/files/{id}/documents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87121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64408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64408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/files/{id}/profile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264408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profile with provenance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6309360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65760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657600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/files/{id}/discrepancies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365760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resolved discrepancies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05079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50792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/files/{id}/mixes</a:t>
            </a:r>
            <a:endParaRPr lang="en-US" sz="98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4050792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mixes with stress + compliance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443984"/>
            <a:ext cx="6309360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44398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443984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/files/{id}/offers</a:t>
            </a:r>
            <a:endParaRPr lang="en-US" sz="98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444398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offer comparison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83717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4837176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/files/{id}/report</a:t>
            </a:r>
            <a:endParaRPr lang="en-US" sz="980" dirty="0"/>
          </a:p>
        </p:txBody>
      </p:sp>
      <p:sp>
        <p:nvSpPr>
          <p:cNvPr id="35" name="Text 33"/>
          <p:cNvSpPr txBox="1"/>
          <p:nvPr/>
        </p:nvSpPr>
        <p:spPr>
          <a:xfrm>
            <a:off x="3931920" y="483717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recommendation report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230368"/>
            <a:ext cx="6309360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" y="5230368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5230368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/files/{id}/ledger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3931920" y="5230368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action trail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62356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280160" y="5623560"/>
            <a:ext cx="2606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/files/{id}/mandate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3931920" y="562356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signed borrower mandate token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17804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 ·  /api/v1  (public-shaped)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169164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169164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/compute/amortization</a:t>
            </a:r>
            <a:endParaRPr lang="en-US" sz="930" dirty="0"/>
          </a:p>
        </p:txBody>
      </p:sp>
      <p:sp>
        <p:nvSpPr>
          <p:cNvPr id="46" name="Text 44"/>
          <p:cNvSpPr txBox="1"/>
          <p:nvPr/>
        </p:nvSpPr>
        <p:spPr>
          <a:xfrm>
            <a:off x="10058400" y="169164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core: schedule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7178040" y="2084832"/>
            <a:ext cx="4462272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69480" y="208483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7863840" y="208483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/compute/affordability</a:t>
            </a:r>
            <a:endParaRPr lang="en-US" sz="930" dirty="0"/>
          </a:p>
        </p:txBody>
      </p:sp>
      <p:sp>
        <p:nvSpPr>
          <p:cNvPr id="50" name="Text 48"/>
          <p:cNvSpPr txBox="1"/>
          <p:nvPr/>
        </p:nvSpPr>
        <p:spPr>
          <a:xfrm>
            <a:off x="10058400" y="208483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core: capacity</a:t>
            </a:r>
            <a:endParaRPr lang="en-US" sz="860" dirty="0"/>
          </a:p>
        </p:txBody>
      </p:sp>
      <p:sp>
        <p:nvSpPr>
          <p:cNvPr id="51" name="Text 49"/>
          <p:cNvSpPr txBox="1"/>
          <p:nvPr/>
        </p:nvSpPr>
        <p:spPr>
          <a:xfrm>
            <a:off x="7269480" y="2478024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7863840" y="247802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/compute/optimize</a:t>
            </a:r>
            <a:endParaRPr lang="en-US" sz="930" dirty="0"/>
          </a:p>
        </p:txBody>
      </p:sp>
      <p:sp>
        <p:nvSpPr>
          <p:cNvPr id="53" name="Text 51"/>
          <p:cNvSpPr txBox="1"/>
          <p:nvPr/>
        </p:nvSpPr>
        <p:spPr>
          <a:xfrm>
            <a:off x="10058400" y="247802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core: mix optimization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7178040" y="2871216"/>
            <a:ext cx="4462272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269480" y="2871216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7863840" y="287121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/compute/compliance</a:t>
            </a:r>
            <a:endParaRPr lang="en-US" sz="930" dirty="0"/>
          </a:p>
        </p:txBody>
      </p:sp>
      <p:sp>
        <p:nvSpPr>
          <p:cNvPr id="57" name="Text 55"/>
          <p:cNvSpPr txBox="1"/>
          <p:nvPr/>
        </p:nvSpPr>
        <p:spPr>
          <a:xfrm>
            <a:off x="10058400" y="28712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core: Directive 329 check</a:t>
            </a:r>
            <a:endParaRPr lang="en-US" sz="860" dirty="0"/>
          </a:p>
        </p:txBody>
      </p:sp>
      <p:sp>
        <p:nvSpPr>
          <p:cNvPr id="58" name="Text 56"/>
          <p:cNvSpPr txBox="1"/>
          <p:nvPr/>
        </p:nvSpPr>
        <p:spPr>
          <a:xfrm>
            <a:off x="7269480" y="3264408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7863840" y="326440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/compute/stress</a:t>
            </a:r>
            <a:endParaRPr lang="en-US" sz="930" dirty="0"/>
          </a:p>
        </p:txBody>
      </p:sp>
      <p:sp>
        <p:nvSpPr>
          <p:cNvPr id="60" name="Text 58"/>
          <p:cNvSpPr txBox="1"/>
          <p:nvPr/>
        </p:nvSpPr>
        <p:spPr>
          <a:xfrm>
            <a:off x="10058400" y="3264408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core: stress battery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7178040" y="3657600"/>
            <a:ext cx="4462272" cy="393192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269480" y="3657600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7863840" y="365760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/market/rates</a:t>
            </a:r>
            <a:endParaRPr lang="en-US" sz="930" dirty="0"/>
          </a:p>
        </p:txBody>
      </p:sp>
      <p:sp>
        <p:nvSpPr>
          <p:cNvPr id="64" name="Text 62"/>
          <p:cNvSpPr txBox="1"/>
          <p:nvPr/>
        </p:nvSpPr>
        <p:spPr>
          <a:xfrm>
            <a:off x="10058400" y="365760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benchmarks</a:t>
            </a:r>
            <a:endParaRPr lang="en-US" sz="860" dirty="0"/>
          </a:p>
        </p:txBody>
      </p:sp>
      <p:sp>
        <p:nvSpPr>
          <p:cNvPr id="65" name="Text 63"/>
          <p:cNvSpPr txBox="1"/>
          <p:nvPr/>
        </p:nvSpPr>
        <p:spPr>
          <a:xfrm>
            <a:off x="7269480" y="4050792"/>
            <a:ext cx="594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7863840" y="405079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/contacts/{id}/memory</a:t>
            </a:r>
            <a:endParaRPr lang="en-US" sz="930" dirty="0"/>
          </a:p>
        </p:txBody>
      </p:sp>
      <p:sp>
        <p:nvSpPr>
          <p:cNvPr id="67" name="Text 65"/>
          <p:cNvSpPr txBox="1"/>
          <p:nvPr/>
        </p:nvSpPr>
        <p:spPr>
          <a:xfrm>
            <a:off x="10058400" y="40507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behavioral model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7178040" y="4663440"/>
            <a:ext cx="4462272" cy="1417320"/>
          </a:xfrm>
          <a:prstGeom prst="roundRect">
            <a:avLst>
              <a:gd name="adj" fmla="val 6452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7406640" y="4846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public-shaped: the financial core is independently useful — it’s the foundation of the free-analysis funnel, and potentially a lender-side product later.</a:t>
            </a:r>
            <a:endParaRPr lang="en-US" sz="1080" dirty="0"/>
          </a:p>
        </p:txBody>
      </p:sp>
      <p:sp>
        <p:nvSpPr>
          <p:cNvPr id="70" name="Text 6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IMPLEMENTATION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sequencing: why this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02336"/>
          </a:xfrm>
          <a:prstGeom prst="rect">
            <a:avLst/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5087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50876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110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110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core + compliance engine + ledger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9110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component with objectively verifiable correctness; everything depends on it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11091672" cy="54864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4597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4597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pipeline (parallel)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45973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Longest-lead unknown; gated on the document corpus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083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008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workflows + agent harness + intake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008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financial core to exist to be useful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11091672" cy="54864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557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3557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optimizer + independent verifier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55701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core and compliance engine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1056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41056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lenders + email gateway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1056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above; built by whoever finishes first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11091672" cy="54864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6542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+ negotiation + counterparty memory</a:t>
            </a:r>
            <a:endParaRPr lang="en-US" sz="113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46542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simulated lenders and the optimizer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2029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5202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Reporting, eval harness in CI, hardening</a:t>
            </a:r>
            <a:endParaRPr lang="en-US" sz="113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520293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proof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EA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core → optimizer → tender → negotiation. The document pipeline and simulated lenders are parallel tracks, staffed to run concurrently.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Per-file LLM and voice cost: ₪53 modeled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BREAKDOWN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(~40 pages)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8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in / 30K out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91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6766560" cy="36576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conversation (~60 turns)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eff. / 60K out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optimization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 / 10K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4231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6766560" cy="36576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+ offer parsing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/ 90K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788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strategy (~15 calls)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/ 100K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154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6766560" cy="36576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verification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88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 / 40K</a:t>
            </a:r>
            <a:endParaRPr lang="en-US" sz="88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5204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/ 25K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886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6766560" cy="36576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3 calls × 8 min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61188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+ self-hosted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/ 30K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minutes + DID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361188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80" dirty="0"/>
          </a:p>
        </p:txBody>
      </p:sp>
      <p:sp>
        <p:nvSpPr>
          <p:cNvPr id="43" name="Text 41"/>
          <p:cNvSpPr txBox="1"/>
          <p:nvPr/>
        </p:nvSpPr>
        <p:spPr>
          <a:xfrm>
            <a:off x="5029200" y="4617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4617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029200"/>
            <a:ext cx="6766560" cy="0"/>
          </a:xfrm>
          <a:prstGeom prst="line">
            <a:avLst/>
          </a:prstGeom>
          <a:noFill/>
          <a:ln w="15875">
            <a:solidFill>
              <a:srgbClr val="0A246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$11.45 + 40% buffer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120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₪53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635240" y="1371600"/>
            <a:ext cx="4005072" cy="4480560"/>
          </a:xfrm>
          <a:prstGeom prst="roundRect">
            <a:avLst>
              <a:gd name="adj" fmla="val 2740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786384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863840" y="1874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₪3.30 / USD. Prompt caching on stable context (profile, market data, playbook) — plausibly 60–80% reduction on input tokens for a conversation-heavy file. Deterministic optimizer means the computationally expensive part costs essentially nothing.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63840" y="3246120"/>
            <a:ext cx="3566160" cy="0"/>
          </a:xfrm>
          <a:prstGeom prst="line">
            <a:avLst/>
          </a:prstGeom>
          <a:noFill/>
          <a:ln w="12700">
            <a:solidFill>
              <a:srgbClr val="3A508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86384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Non-closing files cost ~40% of a full file — they typically die at intake or pre-approval, before the expensive negotiation and verification stages.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cost by phase, and the sensitivity margin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80960" cy="365760"/>
          </a:xfrm>
          <a:prstGeom prst="rect">
            <a:avLst/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35808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90288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(25/mo)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(150/mo)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workers</a:t>
            </a:r>
            <a:endParaRPr lang="en-US" sz="103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3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3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(self-hosted)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(Cloud)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 (Cloud)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3035808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103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 (Multi-AZ)</a:t>
            </a:r>
            <a:endParaRPr lang="en-US" sz="103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303580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103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3035808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GPU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30358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30" dirty="0"/>
          </a:p>
        </p:txBody>
      </p:sp>
      <p:sp>
        <p:nvSpPr>
          <p:cNvPr id="34" name="Text 32"/>
          <p:cNvSpPr txBox="1"/>
          <p:nvPr/>
        </p:nvSpPr>
        <p:spPr>
          <a:xfrm>
            <a:off x="3035808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030" dirty="0"/>
          </a:p>
        </p:txBody>
      </p:sp>
      <p:sp>
        <p:nvSpPr>
          <p:cNvPr id="35" name="Text 33"/>
          <p:cNvSpPr txBox="1"/>
          <p:nvPr/>
        </p:nvSpPr>
        <p:spPr>
          <a:xfrm>
            <a:off x="4590288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103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3977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</a:t>
            </a:r>
            <a:endParaRPr lang="en-US" sz="103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</a:t>
            </a:r>
            <a:endParaRPr lang="en-US" sz="1030" dirty="0"/>
          </a:p>
        </p:txBody>
      </p:sp>
      <p:sp>
        <p:nvSpPr>
          <p:cNvPr id="38" name="Text 36"/>
          <p:cNvSpPr txBox="1"/>
          <p:nvPr/>
        </p:nvSpPr>
        <p:spPr>
          <a:xfrm>
            <a:off x="3035808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30" dirty="0"/>
          </a:p>
        </p:txBody>
      </p:sp>
      <p:sp>
        <p:nvSpPr>
          <p:cNvPr id="39" name="Text 37"/>
          <p:cNvSpPr txBox="1"/>
          <p:nvPr/>
        </p:nvSpPr>
        <p:spPr>
          <a:xfrm>
            <a:off x="4590288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6464808" y="4343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03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30" dirty="0"/>
          </a:p>
        </p:txBody>
      </p:sp>
      <p:sp>
        <p:nvSpPr>
          <p:cNvPr id="42" name="Text 40"/>
          <p:cNvSpPr txBox="1"/>
          <p:nvPr/>
        </p:nvSpPr>
        <p:spPr>
          <a:xfrm>
            <a:off x="3035808" y="4709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</a:t>
            </a:r>
            <a:endParaRPr lang="en-US" sz="1030" dirty="0"/>
          </a:p>
        </p:txBody>
      </p:sp>
      <p:sp>
        <p:nvSpPr>
          <p:cNvPr id="43" name="Text 41"/>
          <p:cNvSpPr txBox="1"/>
          <p:nvPr/>
        </p:nvSpPr>
        <p:spPr>
          <a:xfrm>
            <a:off x="4590288" y="4709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</a:t>
            </a:r>
            <a:endParaRPr lang="en-US" sz="1030" dirty="0"/>
          </a:p>
        </p:txBody>
      </p:sp>
      <p:sp>
        <p:nvSpPr>
          <p:cNvPr id="44" name="Text 42"/>
          <p:cNvSpPr txBox="1"/>
          <p:nvPr/>
        </p:nvSpPr>
        <p:spPr>
          <a:xfrm>
            <a:off x="6464808" y="4709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548640" y="5074920"/>
            <a:ext cx="7680960" cy="36576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8368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+ buffer</a:t>
            </a:r>
            <a:endParaRPr lang="en-US" sz="1030" dirty="0"/>
          </a:p>
        </p:txBody>
      </p:sp>
      <p:sp>
        <p:nvSpPr>
          <p:cNvPr id="47" name="Text 45"/>
          <p:cNvSpPr txBox="1"/>
          <p:nvPr/>
        </p:nvSpPr>
        <p:spPr>
          <a:xfrm>
            <a:off x="3035808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~$250</a:t>
            </a:r>
            <a:endParaRPr lang="en-US" sz="1030" dirty="0"/>
          </a:p>
        </p:txBody>
      </p:sp>
      <p:sp>
        <p:nvSpPr>
          <p:cNvPr id="48" name="Text 46"/>
          <p:cNvSpPr txBox="1"/>
          <p:nvPr/>
        </p:nvSpPr>
        <p:spPr>
          <a:xfrm>
            <a:off x="4590288" y="5074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~$850</a:t>
            </a:r>
            <a:endParaRPr lang="en-US" sz="1030" dirty="0"/>
          </a:p>
        </p:txBody>
      </p:sp>
      <p:sp>
        <p:nvSpPr>
          <p:cNvPr id="49" name="Text 47"/>
          <p:cNvSpPr txBox="1"/>
          <p:nvPr/>
        </p:nvSpPr>
        <p:spPr>
          <a:xfrm>
            <a:off x="6464808" y="5074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~$1,950</a:t>
            </a:r>
            <a:endParaRPr lang="en-US" sz="103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SENSITIVITY (PER CLOSED FILE)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58064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658368" y="58704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0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modeled: </a:t>
            </a:r>
            <a:endParaRPr lang="en-US" sz="92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60899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₪53 · 95%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304288" y="58064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2414016" y="58704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3×: </a:t>
            </a:r>
            <a:endParaRPr lang="en-US" sz="920" dirty="0"/>
          </a:p>
        </p:txBody>
      </p:sp>
      <p:sp>
        <p:nvSpPr>
          <p:cNvPr id="56" name="Text 54"/>
          <p:cNvSpPr txBox="1"/>
          <p:nvPr/>
        </p:nvSpPr>
        <p:spPr>
          <a:xfrm>
            <a:off x="2414016" y="60899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₪159 · 88%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059936" y="58064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4169664" y="58704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5×: </a:t>
            </a:r>
            <a:endParaRPr lang="en-US" sz="920" dirty="0"/>
          </a:p>
        </p:txBody>
      </p:sp>
      <p:sp>
        <p:nvSpPr>
          <p:cNvPr id="59" name="Text 57"/>
          <p:cNvSpPr txBox="1"/>
          <p:nvPr/>
        </p:nvSpPr>
        <p:spPr>
          <a:xfrm>
            <a:off x="4169664" y="60899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₪265 · 81%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815584" y="58064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5925312" y="58704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10×: </a:t>
            </a:r>
            <a:endParaRPr lang="en-US" sz="920" dirty="0"/>
          </a:p>
        </p:txBody>
      </p:sp>
      <p:sp>
        <p:nvSpPr>
          <p:cNvPr id="62" name="Text 60"/>
          <p:cNvSpPr txBox="1"/>
          <p:nvPr/>
        </p:nvSpPr>
        <p:spPr>
          <a:xfrm>
            <a:off x="5925312" y="60899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₪530 · 65%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sensitive household data that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819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3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1687251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544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everywhere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305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transit; database, object store, backups encrypted at rest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5819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1" name="Image 1" descr="/home/claude/deck3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11" y="1687251"/>
            <a:ext cx="228234" cy="2282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3480" y="15544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encryption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1305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numbers, income, account numbers, credit data — separate key per field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5819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6" name="Image 2" descr="/home/claude/deck3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651" y="1687251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32520" y="15544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purge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1305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retention, automated purge; source documents purged after extraction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31821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1" name="Image 3" descr="/home/claude/deck3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3287451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access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7307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standing human access to production borrower data; break-glass logged to ledger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4297680" y="30175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31821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6" name="Image 4" descr="/home/claude/deck3/icons/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611" y="3287451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983480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37307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to personal data logged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8046720" y="30175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1821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1" name="Image 5" descr="/home/claude/deck3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651" y="3287451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732520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appointed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37307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first real client file — mandatory under Amendment 13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3232" y="47823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6" name="Image 6" descr="/home/claude/deck3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571" y="4887651"/>
            <a:ext cx="228234" cy="22823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34440" y="47548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731520" y="53309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KMS, per-environment keys, documented rotation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4297680" y="46177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62272" y="47823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41" name="Image 7" descr="/home/claude/deck3/icons/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611" y="4887651"/>
            <a:ext cx="228234" cy="22823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983480" y="47548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Regs 2017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4480560" y="53309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the high tier though formal classification is medium until scale thresholds</a:t>
            </a:r>
            <a:endParaRPr lang="en-US" sz="930" dirty="0"/>
          </a:p>
        </p:txBody>
      </p:sp>
      <p:sp>
        <p:nvSpPr>
          <p:cNvPr id="44" name="Shape 34"/>
          <p:cNvSpPr/>
          <p:nvPr/>
        </p:nvSpPr>
        <p:spPr>
          <a:xfrm>
            <a:off x="8046720" y="4617720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11312" y="4782312"/>
            <a:ext cx="438912" cy="438912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46" name="Image 8" descr="/home/claude/deck3/icons/ma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651" y="4887651"/>
            <a:ext cx="228234" cy="22823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732520" y="47548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data flows</a:t>
            </a:r>
            <a:endParaRPr lang="en-US" sz="1150" dirty="0"/>
          </a:p>
        </p:txBody>
      </p:sp>
      <p:sp>
        <p:nvSpPr>
          <p:cNvPr id="48" name="Text 37"/>
          <p:cNvSpPr txBox="1"/>
          <p:nvPr/>
        </p:nvSpPr>
        <p:spPr>
          <a:xfrm>
            <a:off x="8229600" y="5330952"/>
            <a:ext cx="3227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processor agreements incl. LLM providers; zero-retention required</a:t>
            </a:r>
            <a:endParaRPr lang="en-US" sz="930" dirty="0"/>
          </a:p>
        </p:txBody>
      </p:sp>
      <p:sp>
        <p:nvSpPr>
          <p:cNvPr id="49" name="Text 3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RISK REGISTER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wrong, and how it’s bounded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8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 document parsing below target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4173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collection before week 1; per-provider templates as fallback; ask-borrower-to-confirm path for low-confidence fields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D0F4E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13055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1305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9933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quality plateaus at "polite but ineffective"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933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lenders with known concession curves make this measurable; POC gate is coherence, not superiority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58368" y="270662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706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5694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deliverability collapse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5694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warming from week 1; reply-rate monitoring per institution; human-paced sending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48640" y="3145536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D0F4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28269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282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1455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latency budget unachievable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14553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spike, off the critical path; human fallback costs little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58368" y="385876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7216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learning curve slows weeks 3–4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7216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Throwaway prototype in week 1 while financial core is being built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D0F4E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44348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4434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4297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produces compliant but absurd mixes</a:t>
            </a:r>
            <a:endParaRPr lang="en-US" sz="108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2976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verification; sanity bounds from real market mixes; brute-force oracle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50109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5010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48737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 changes behavior under us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487375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everywhere; prompt versioning in Langfuse; eval suite catches regressions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48640" y="5449824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D0F4EA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" y="558698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5586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80" dirty="0"/>
          </a:p>
        </p:txBody>
      </p:sp>
      <p:sp>
        <p:nvSpPr>
          <p:cNvPr id="38" name="Text 36"/>
          <p:cNvSpPr txBox="1"/>
          <p:nvPr/>
        </p:nvSpPr>
        <p:spPr>
          <a:xfrm>
            <a:off x="1600200" y="54498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lenders unrealistically cooperative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544982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real observed bank behavior post-pilot; include an obstructive lender and one insisting on phone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58368" y="6163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7B29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61630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1600200" y="602589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cost overrun</a:t>
            </a:r>
            <a:endParaRPr lang="en-US" sz="1080" dirty="0"/>
          </a:p>
        </p:txBody>
      </p:sp>
      <p:sp>
        <p:nvSpPr>
          <p:cNvPr id="43" name="Text 41"/>
          <p:cNvSpPr txBox="1"/>
          <p:nvPr/>
        </p:nvSpPr>
        <p:spPr>
          <a:xfrm>
            <a:off x="5257800" y="602589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spend caps; margin robust to a 10× miss</a:t>
            </a:r>
            <a:endParaRPr lang="en-US" sz="96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0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E87FF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READINESS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proves this is working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core correctness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exact on golden files</a:t>
            </a:r>
            <a:endParaRPr lang="en-US" sz="103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19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violations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221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Zero, non-negotiable</a:t>
            </a:r>
            <a:endParaRPr lang="en-US" sz="103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69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field accuracy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569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income, &gt;98% identity</a:t>
            </a:r>
            <a:endParaRPr lang="en-US" sz="103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16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durability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recovery under chaos testing</a:t>
            </a:r>
            <a:endParaRPr lang="en-US" sz="103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64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latency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&lt;1200ms, perceived &lt;800ms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file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2× of model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Achieved-rate delta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480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−0.25% vs. BoI average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28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Concession capture (sim)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828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 of available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75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detection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175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catch, &lt;5% false positive</a:t>
            </a:r>
            <a:endParaRPr lang="en-US" sz="103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229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approval-in-principle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5522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 days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537960" y="1554480"/>
            <a:ext cx="5102352" cy="4206240"/>
          </a:xfrm>
          <a:prstGeom prst="roundRect">
            <a:avLst>
              <a:gd name="adj" fmla="val 3043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BEFORE WEEK 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73152" cy="73152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40880" y="2093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Hebrew document corpus: 60+ docs, 8+ types, de-identified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743200"/>
            <a:ext cx="73152" cy="73152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40880" y="2624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329 v13 parameters loaded as dated config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3273552"/>
            <a:ext cx="73152" cy="73152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04088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hand-computed golden scenarios, independently verified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3803904"/>
            <a:ext cx="73152" cy="73152"/>
          </a:xfrm>
          <a:prstGeom prst="ellipse">
            <a:avLst/>
          </a:prstGeom>
          <a:solidFill>
            <a:srgbClr val="EA901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4088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 historical rate-by-track series for benchmarking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4343400"/>
            <a:ext cx="4480560" cy="0"/>
          </a:xfrm>
          <a:prstGeom prst="line">
            <a:avLst/>
          </a:prstGeom>
          <a:noFill/>
          <a:ln w="12700">
            <a:solidFill>
              <a:srgbClr val="3A508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4480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NON-BLOCKING, START NOW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77316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domain warming · LLM provider accounts (zero-retention) · GPU account for the voice spike · Israeli DID + SIP trunk · confirmatory legal opinion commissioned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Technical Roadmap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2026-08-30T21:52:42Z</dcterms:created>
  <dcterms:modified xsi:type="dcterms:W3CDTF">2026-08-30T21:52:42Z</dcterms:modified>
</cp:coreProperties>
</file>