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0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E87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2377440" cy="2377440"/>
          </a:xfrm>
          <a:prstGeom prst="ellipse">
            <a:avLst/>
          </a:prstGeom>
          <a:solidFill>
            <a:srgbClr val="0A246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-914400"/>
            <a:ext cx="2194560" cy="2194560"/>
          </a:xfrm>
          <a:prstGeom prst="ellipse">
            <a:avLst/>
          </a:prstGeom>
          <a:solidFill>
            <a:srgbClr val="EA901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EA90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PRE-POC · PLANNING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Mortgage Advisor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033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human mortgage broker end-to-end with a durable AI agent — for the Israeli market, priced at less than half the human rate.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 (Hebrew-first)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5074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Pre-POC, no code written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5074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27,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cost-structure advantage, not a feature difference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15184" cy="1508760"/>
          </a:xfrm>
          <a:prstGeom prst="roundRect">
            <a:avLst>
              <a:gd name="adj" fmla="val 606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₪252M/yr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762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(domestic mortgage fees)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417320"/>
            <a:ext cx="2615184" cy="1508760"/>
          </a:xfrm>
          <a:prstGeom prst="roundRect">
            <a:avLst>
              <a:gd name="adj" fmla="val 606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9584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40–50%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9584" y="21762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human advisor rate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our price point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417320"/>
            <a:ext cx="2615184" cy="1508760"/>
          </a:xfrm>
          <a:prstGeom prst="roundRect">
            <a:avLst>
              <a:gd name="adj" fmla="val 606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45936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1762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at scale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97696" y="1417320"/>
            <a:ext cx="2615184" cy="1508760"/>
          </a:xfrm>
          <a:prstGeom prst="roundRect">
            <a:avLst>
              <a:gd name="adj" fmla="val 6061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62288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1/30th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62288" y="21762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file vs. 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advisor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84448"/>
            <a:ext cx="6492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 agent harness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(Temporal-orchestrated, multi-week stateful workflows) wraps a deterministic financial core. The LLM never does arithmetic or judges compliance — it handles language, documents, judgment, and negotiation. Success-based fee, paid only on a closed, funded mortgage.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269480" y="3246120"/>
            <a:ext cx="4370832" cy="2651760"/>
          </a:xfrm>
          <a:prstGeom prst="roundRect">
            <a:avLst>
              <a:gd name="adj" fmla="val 4138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5438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MATTERS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7490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incumbent is an AI-assisted human advisory business. We remove the human from the loop entirely — a cost-structure difference that lets us charge ₪2,490 profitably at 150 files/month with a team of four.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be an obvious yes, not a bet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21408" cy="3977640"/>
          </a:xfrm>
          <a:prstGeom prst="roundRect">
            <a:avLst>
              <a:gd name="adj" fmla="val 517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4944" y="1709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5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ANALYSIS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94944" y="3044952"/>
            <a:ext cx="1828800" cy="0"/>
          </a:xfrm>
          <a:prstGeom prst="line">
            <a:avLst/>
          </a:prstGeom>
          <a:noFill/>
          <a:ln w="12700">
            <a:solidFill>
              <a:srgbClr val="D7B29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BENCHMARK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₪500–1,500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41148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consultation benchmark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16352" y="1508760"/>
            <a:ext cx="2121408" cy="3977640"/>
          </a:xfrm>
          <a:prstGeom prst="roundRect">
            <a:avLst>
              <a:gd name="adj" fmla="val 517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62656" y="1709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5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REFINANCE FILE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₪1,490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2962656" y="3044952"/>
            <a:ext cx="1828800" cy="0"/>
          </a:xfrm>
          <a:prstGeom prst="line">
            <a:avLst/>
          </a:prstGeom>
          <a:noFill/>
          <a:ln w="12700">
            <a:solidFill>
              <a:srgbClr val="D7B2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62656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BENCHMARK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962656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₪3,000–6,000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62656" y="41148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מיחזור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84064" y="1508760"/>
            <a:ext cx="2121408" cy="3977640"/>
          </a:xfrm>
          <a:prstGeom prst="roundRect">
            <a:avLst>
              <a:gd name="adj" fmla="val 5172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230368" y="1709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50" kern="0" dirty="0">
                <a:solidFill>
                  <a:srgbClr val="D0F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PURCHASE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₪2,490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5230368" y="3044952"/>
            <a:ext cx="1828800" cy="0"/>
          </a:xfrm>
          <a:prstGeom prst="line">
            <a:avLst/>
          </a:prstGeom>
          <a:noFill/>
          <a:ln w="12700">
            <a:solidFill>
              <a:srgbClr val="1E8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30368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BENCHMARK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230368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₪4,500–6,000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30368" y="41148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0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Salaried, single property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1776" y="1508760"/>
            <a:ext cx="2121408" cy="3977640"/>
          </a:xfrm>
          <a:prstGeom prst="roundRect">
            <a:avLst>
              <a:gd name="adj" fmla="val 517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498080" y="1709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5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FILE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₪3,990</a:t>
            </a:r>
            <a:endParaRPr lang="en-US" sz="2500" dirty="0"/>
          </a:p>
        </p:txBody>
      </p:sp>
      <p:sp>
        <p:nvSpPr>
          <p:cNvPr id="28" name="Shape 26"/>
          <p:cNvSpPr/>
          <p:nvPr/>
        </p:nvSpPr>
        <p:spPr>
          <a:xfrm>
            <a:off x="7498080" y="3044952"/>
            <a:ext cx="1828800" cy="0"/>
          </a:xfrm>
          <a:prstGeom prst="line">
            <a:avLst/>
          </a:prstGeom>
          <a:noFill/>
          <a:ln w="12700">
            <a:solidFill>
              <a:srgbClr val="D7B29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BENCHMARK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₪6,000–14,000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41148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Self-employed, multi-borrower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19488" y="1508760"/>
            <a:ext cx="2121408" cy="3977640"/>
          </a:xfrm>
          <a:prstGeom prst="roundRect">
            <a:avLst>
              <a:gd name="adj" fmla="val 517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765792" y="1709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5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MORTGAGE WATCH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765792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₪190/yr</a:t>
            </a:r>
            <a:endParaRPr lang="en-US" sz="2500" dirty="0"/>
          </a:p>
        </p:txBody>
      </p:sp>
      <p:sp>
        <p:nvSpPr>
          <p:cNvPr id="35" name="Shape 33"/>
          <p:cNvSpPr/>
          <p:nvPr/>
        </p:nvSpPr>
        <p:spPr>
          <a:xfrm>
            <a:off x="9765792" y="3044952"/>
            <a:ext cx="1828800" cy="0"/>
          </a:xfrm>
          <a:prstGeom prst="line">
            <a:avLst/>
          </a:prstGeom>
          <a:noFill/>
          <a:ln w="12700">
            <a:solidFill>
              <a:srgbClr val="D7B29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65792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BENCHMARK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765792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offered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765792" y="41148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Refinance monitoring subscription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Success-based fee — paid only on a closed, funded mortgage. We never touch client, mortgage, or lender funds at any point.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structural tailwinds, arriving on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1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190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Affordability stress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4688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term stretched from 22 to 27 years since 2019, purely to compress monthly payments. Optimization has never mattered more per borrower.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719072"/>
            <a:ext cx="640080" cy="64008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1" name="Image 1" descr="/home/claude/deck1/icons/rep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51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7190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Refinancing is about to spike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428232" y="24688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Refinancing typically hits 40–50 months after origination. The 2020–21 origination peak (~20% CPI-linked variable) resets across 2025–2026.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33672"/>
            <a:ext cx="640080" cy="64008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6" name="Image 2" descr="/home/claude/deck1/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3872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233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are desperate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49834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~86,000 unsold new units, a 34% collapse in free-market developer sales. Aggressive 20/80 financing promotions need buyers who can get approved.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233672"/>
            <a:ext cx="640080" cy="64008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1" name="Image 3" descr="/home/claude/deck1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851" y="438729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233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transparency reform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428232" y="4983480"/>
            <a:ext cx="4928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of Israel's reform standardized how banks present offers. Built to help consumers compare — it helps machines compare even more.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₪252M/yr market, with a hard ceiling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AT A GLANCE (2025)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₪105.7B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mortgage volume, 2025 (+13.4% YoY)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042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₪36B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Refinancing volume (מיחזורים), 2025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7121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₪1.03M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mortgage size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381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 yrs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mortgage term (up from 22 in 2019)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1874520" cy="2788920"/>
          </a:xfrm>
          <a:prstGeom prst="roundRect">
            <a:avLst>
              <a:gd name="adj" fmla="val 5854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26480" y="1572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103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~₪252M/yr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7889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~102,000 files/yr across purchase &amp; refinance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19288" y="1417320"/>
            <a:ext cx="1874520" cy="2788920"/>
          </a:xfrm>
          <a:prstGeom prst="roundRect">
            <a:avLst>
              <a:gd name="adj" fmla="val 5854"/>
            </a:avLst>
          </a:prstGeom>
          <a:solidFill>
            <a:srgbClr val="1E87FF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156448" y="1572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(ADVISED TODAY)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156448" y="2103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~₪113M/yr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156448" y="27889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~46,000 files/yr already use a paid advisor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49256" y="1417320"/>
            <a:ext cx="1874520" cy="2788920"/>
          </a:xfrm>
          <a:prstGeom prst="roundRect">
            <a:avLst>
              <a:gd name="adj" fmla="val 5854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186416" y="15727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186416" y="21031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55,000+ files/yr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186416" y="278892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unadvised — borrowers leave ₪50K–200K on the table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553712"/>
            <a:ext cx="621792" cy="621792"/>
          </a:xfrm>
          <a:prstGeom prst="ellipse">
            <a:avLst/>
          </a:prstGeom>
          <a:solidFill>
            <a:srgbClr val="EA9010"/>
          </a:solidFill>
          <a:ln/>
        </p:spPr>
      </p:sp>
      <p:pic>
        <p:nvPicPr>
          <p:cNvPr id="23" name="Image 0" descr="/home/claude/deck1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70" y="4702942"/>
            <a:ext cx="323332" cy="3233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600200" y="4480560"/>
            <a:ext cx="9829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ceiling.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Israel-only, this is a ~₪250M/yr ceiling. Capturing 10% of TAM tops out around ₪25M/yr revenue — profitable, but not large on domestic mortgage fees alone. Three vectors break the ceiling (see Breaking the Ceiling).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late, not first — we win on architecture and price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solidFill>
            <a:srgbClr val="0A24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481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148132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 FOR US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38528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93852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 + digital acquisition, human-in-loop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938528"/>
            <a:ext cx="4736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credit-data expertise we lack, but throughput is people-bound (~5 staff, 8 yrs)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11091672" cy="0"/>
          </a:xfrm>
          <a:prstGeom prst="line">
            <a:avLst/>
          </a:prstGeom>
          <a:noFill/>
          <a:ln w="9525">
            <a:solidFill>
              <a:srgbClr val="E7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24912"/>
            <a:ext cx="11091672" cy="78638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724912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Cantaio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72491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tender, ex-banker team negotiates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724912"/>
            <a:ext cx="4736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thesis, but humans run negotiation. Priced at human rate: ₪6,000–12,000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48640" y="2724912"/>
            <a:ext cx="11091672" cy="0"/>
          </a:xfrm>
          <a:prstGeom prst="line">
            <a:avLst/>
          </a:prstGeom>
          <a:noFill/>
          <a:ln w="9525">
            <a:solidFill>
              <a:srgbClr val="E7E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511296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 AI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88920" y="351129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analysis, monetized via human advisors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511296"/>
            <a:ext cx="4736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our funnel, confirms calc layer isn’t a moat. Conversion still needs humans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11091672" cy="0"/>
          </a:xfrm>
          <a:prstGeom prst="line">
            <a:avLst/>
          </a:prstGeom>
          <a:noFill/>
          <a:ln w="9525">
            <a:solidFill>
              <a:srgbClr val="E7E9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97680"/>
            <a:ext cx="11091672" cy="786384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297680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Finwiz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429768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+ calculator suite + consulting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4297680"/>
            <a:ext cx="4736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organic content position we must route around, not fight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11091672" cy="0"/>
          </a:xfrm>
          <a:prstGeom prst="line">
            <a:avLst/>
          </a:prstGeom>
          <a:noFill/>
          <a:ln w="9525">
            <a:solidFill>
              <a:srgbClr val="E7E9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084064"/>
            <a:ext cx="1874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~2,000+ independents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788920" y="508406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practitioners, ₪3,000–14,000/file</a:t>
            </a:r>
            <a:endParaRPr lang="en-US" sz="113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5084064"/>
            <a:ext cx="4736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match our price or throughput — also our best referral partners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548640" y="5084064"/>
            <a:ext cx="11091672" cy="0"/>
          </a:xfrm>
          <a:prstGeom prst="line">
            <a:avLst/>
          </a:prstGeom>
          <a:noFill/>
          <a:ln w="9525">
            <a:solidFill>
              <a:srgbClr val="E7E9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moats, in order of durability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93592" cy="3566160"/>
          </a:xfrm>
          <a:prstGeom prst="roundRect">
            <a:avLst>
              <a:gd name="adj" fmla="val 3077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46120" y="1764792"/>
            <a:ext cx="566928" cy="566928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7" name="Image 0" descr="/home/claude/deck1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2183" y="1900855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46888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execution of the bureaucratic middle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291840"/>
            <a:ext cx="31912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automates document chasing, multi-round lender negotiation, appraisal/legal/insurance coordination, and contract verification. This is 80% of the labor and 100% of what makes the human expensive.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593592" cy="3566160"/>
          </a:xfrm>
          <a:prstGeom prst="roundRect">
            <a:avLst>
              <a:gd name="adj" fmla="val 3077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98848" y="1691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995160" y="1764792"/>
            <a:ext cx="566928" cy="566928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3" name="Image 1" descr="/home/claude/deck1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223" y="1900855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98848" y="246888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Counterparty memory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498848" y="3291840"/>
            <a:ext cx="31912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per-banker behavioral model — who responds fast, who concedes under pressure, who needs a phone call — compounds with every file and cannot be bought. Gets better than a human, not just cheaper.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508760"/>
            <a:ext cx="3593592" cy="3566160"/>
          </a:xfrm>
          <a:prstGeom prst="roundRect">
            <a:avLst>
              <a:gd name="adj" fmla="val 3077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247888" y="1691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744200" y="1764792"/>
            <a:ext cx="566928" cy="566928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9" name="Image 2" descr="/home/claude/deck1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263" y="190085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47888" y="246888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247888" y="3291840"/>
            <a:ext cx="31912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 price no competitor can match without abandoning their delivery model — the calculation engine itself is not a moat (Mimi AI gives it away free).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EA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late, not first. 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Walty has 8 years and credit-registry expertise. Cantaio has banking insiders. We win on architecture and price, not on being novel.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file: roughly 1/30th of a human advisor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COST PER FULL FILE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 (vision, ~40 pages)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577840" cy="41148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conversation (~60 turns, cached)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148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60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optimization (deterministic solver)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560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577840" cy="411480"/>
          </a:xfrm>
          <a:prstGeom prst="rect">
            <a:avLst/>
          </a:prstGeom>
          <a:solidFill>
            <a:srgbClr val="D0F4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+ negotiation (5 lenders, 3 rounds)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71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~$1.80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escalation (2–4 calls)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383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577840" cy="0"/>
          </a:xfrm>
          <a:prstGeom prst="line">
            <a:avLst/>
          </a:prstGeom>
          <a:noFill/>
          <a:ln w="15875">
            <a:solidFill>
              <a:srgbClr val="0A24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931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cost per file (modeled)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931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₪53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1417320"/>
            <a:ext cx="5102352" cy="1234440"/>
          </a:xfrm>
          <a:prstGeom prst="roundRect">
            <a:avLst>
              <a:gd name="adj" fmla="val 7407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766560" y="156362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156362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2788920"/>
            <a:ext cx="5102352" cy="1234440"/>
          </a:xfrm>
          <a:prstGeom prst="roundRect">
            <a:avLst>
              <a:gd name="adj" fmla="val 7407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766560" y="293522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&lt;₪265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293522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file, even at a 5× overrun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160520"/>
            <a:ext cx="5102352" cy="1234440"/>
          </a:xfrm>
          <a:prstGeom prst="roundRect">
            <a:avLst>
              <a:gd name="adj" fmla="val 7407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766560" y="430682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&lt;₪100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430682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Fully-loaded cost per closed file at 45% close rate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623560"/>
            <a:ext cx="5102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Non-closing files cost ~40% of the modeled figure — they die before the expensive negotiation and verification stages, so a high proportion of non-closes is absorbable.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channels, blended CAC ₪250–450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91056"/>
            <a:ext cx="585216" cy="585216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5" name="Image 0" descr="/home/claude/deck1/icons/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1731508"/>
            <a:ext cx="304312" cy="304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Content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709160" y="1463040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Rate-benchmark authority; competes on the benchmark data asset, not out-writing Finwiz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14630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14630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35915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D0F4EA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487168"/>
            <a:ext cx="585216" cy="585216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2" name="Image 1" descr="/home/claude/deck1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52" y="2627620"/>
            <a:ext cx="304312" cy="304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35915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&amp; Lawyer Referrals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2359152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₪400 referral fee at the highest-intent moment: signing a purchase contract</a:t>
            </a:r>
            <a:endParaRPr lang="en-US" sz="1080" dirty="0"/>
          </a:p>
        </p:txBody>
      </p:sp>
      <p:sp>
        <p:nvSpPr>
          <p:cNvPr id="15" name="Text 11"/>
          <p:cNvSpPr txBox="1"/>
          <p:nvPr/>
        </p:nvSpPr>
        <p:spPr>
          <a:xfrm>
            <a:off x="9509760" y="235915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₪480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0607040" y="235915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3383280"/>
            <a:ext cx="585216" cy="585216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8" name="Image 2" descr="/home/claude/deck1/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52" y="3523732"/>
            <a:ext cx="304312" cy="304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25526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Partnerships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3255264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qualification widget in developer sales funnels; available on favorable terms now</a:t>
            </a:r>
            <a:endParaRPr lang="en-US" sz="1080" dirty="0"/>
          </a:p>
        </p:txBody>
      </p:sp>
      <p:sp>
        <p:nvSpPr>
          <p:cNvPr id="21" name="Text 16"/>
          <p:cNvSpPr txBox="1"/>
          <p:nvPr/>
        </p:nvSpPr>
        <p:spPr>
          <a:xfrm>
            <a:off x="9509760" y="325526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~₪250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0607040" y="325526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415137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D0F4EA"/>
          </a:solidFill>
          <a:ln/>
        </p:spPr>
      </p:sp>
      <p:sp>
        <p:nvSpPr>
          <p:cNvPr id="24" name="Shape 19"/>
          <p:cNvSpPr/>
          <p:nvPr/>
        </p:nvSpPr>
        <p:spPr>
          <a:xfrm>
            <a:off x="685800" y="4279392"/>
            <a:ext cx="585216" cy="585216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5" name="Image 3" descr="/home/claude/deck1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52" y="4419844"/>
            <a:ext cx="304312" cy="30431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63040" y="4151376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Word-of-Mouth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4709160" y="4151376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Helpful-first participation in Facebook/WhatsApp mortgage communities</a:t>
            </a:r>
            <a:endParaRPr lang="en-US" sz="1080" dirty="0"/>
          </a:p>
        </p:txBody>
      </p:sp>
      <p:sp>
        <p:nvSpPr>
          <p:cNvPr id="28" name="Text 22"/>
          <p:cNvSpPr txBox="1"/>
          <p:nvPr/>
        </p:nvSpPr>
        <p:spPr>
          <a:xfrm>
            <a:off x="9509760" y="4151376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~₪60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10607040" y="4151376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85800" y="5175504"/>
            <a:ext cx="585216" cy="585216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1" name="Image 4" descr="/home/claude/deck1/icons/tre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52" y="5315956"/>
            <a:ext cx="304312" cy="30431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63040" y="504748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Search &amp; Social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4709160" y="504748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deliberately small in Phase 1 — a scale lever once close-rate advantage is proven</a:t>
            </a:r>
            <a:endParaRPr lang="en-US" sz="1080" dirty="0"/>
          </a:p>
        </p:txBody>
      </p:sp>
      <p:sp>
        <p:nvSpPr>
          <p:cNvPr id="34" name="Text 27"/>
          <p:cNvSpPr txBox="1"/>
          <p:nvPr/>
        </p:nvSpPr>
        <p:spPr>
          <a:xfrm>
            <a:off x="9509760" y="5047488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₪600–1,200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10607040" y="5047488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9509760" y="1170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0607040" y="1170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FILES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gated launch — earn the right to the next segment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0"/>
          </a:xfrm>
          <a:prstGeom prst="line">
            <a:avLst/>
          </a:prstGeom>
          <a:noFill/>
          <a:ln w="25400">
            <a:solidFill>
              <a:srgbClr val="D7B29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6642" y="1956816"/>
            <a:ext cx="292608" cy="292608"/>
          </a:xfrm>
          <a:prstGeom prst="ellipse">
            <a:avLst/>
          </a:prstGeom>
          <a:solidFill>
            <a:srgbClr val="EA90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1757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5564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59152"/>
            <a:ext cx="17571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complete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17571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file vs. 5 simulated lenders, zero compliance violations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175254" y="1956816"/>
            <a:ext cx="292608" cy="292608"/>
          </a:xfrm>
          <a:prstGeom prst="ellipse">
            <a:avLst/>
          </a:prstGeom>
          <a:solidFill>
            <a:srgbClr val="0A24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2972" y="1481328"/>
            <a:ext cx="1757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442972" y="175564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442972" y="2359152"/>
            <a:ext cx="17571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escalation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42972" y="2834640"/>
            <a:ext cx="17571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 Hebrew call, handled autonomously end-to-end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3866" y="1956816"/>
            <a:ext cx="292608" cy="292608"/>
          </a:xfrm>
          <a:prstGeom prst="ellipse">
            <a:avLst/>
          </a:prstGeom>
          <a:solidFill>
            <a:srgbClr val="0A24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1584" y="1481328"/>
            <a:ext cx="1757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291584" y="175564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291584" y="2359152"/>
            <a:ext cx="17571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real close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91584" y="2834640"/>
            <a:ext cx="17571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refinance funded, executed against real banks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872478" y="1956816"/>
            <a:ext cx="292608" cy="292608"/>
          </a:xfrm>
          <a:prstGeom prst="ellipse">
            <a:avLst/>
          </a:prstGeom>
          <a:solidFill>
            <a:srgbClr val="0A24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40196" y="1481328"/>
            <a:ext cx="1757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40196" y="175564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40196" y="2359152"/>
            <a:ext cx="17571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Efficacy proven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40196" y="2834640"/>
            <a:ext cx="17571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closed files; achieved-rate delta ≤ −0.25%; close rate &gt; 40%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721090" y="1956816"/>
            <a:ext cx="292608" cy="292608"/>
          </a:xfrm>
          <a:prstGeom prst="ellipse">
            <a:avLst/>
          </a:prstGeom>
          <a:solidFill>
            <a:srgbClr val="0A24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88808" y="1481328"/>
            <a:ext cx="1757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988808" y="175564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988808" y="2359152"/>
            <a:ext cx="17571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88808" y="2834640"/>
            <a:ext cx="17571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52+ closed files/month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0569702" y="1956816"/>
            <a:ext cx="292608" cy="292608"/>
          </a:xfrm>
          <a:prstGeom prst="ellipse">
            <a:avLst/>
          </a:prstGeom>
          <a:solidFill>
            <a:srgbClr val="0A24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37420" y="1481328"/>
            <a:ext cx="1757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837420" y="1755648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837420" y="2359152"/>
            <a:ext cx="17571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837420" y="2834640"/>
            <a:ext cx="17571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closed files/month; &gt;95% autonomy; ₪4.3M ARR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68680" y="5257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EA9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gating discipline.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add a segment until the prior one’s close rate exceeds 40% with zero compliance violations. A single well-publicized case of an AI mishandling someone’s home financing ends the company.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metrics that determine whether the business is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1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7958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3317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−0.25% or better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3464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rate delta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15468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Bank of Israel published average — this single number is the product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1664208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2" name="Image 1" descr="/home/claude/deck1/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22" y="179588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98848" y="23317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₪80,000 avg.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498848" y="283464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interest saved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498848" y="315468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loan life vs. the borrower’s first bank offer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4630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47888" y="1664208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8" name="Image 2" descr="/home/claude/deck1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2" y="179588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47888" y="233172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&gt;45% → &gt;60%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247888" y="283464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rate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247888" y="315468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engagement → funded loan, Phase 1 → Phase 2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959352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160520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4" name="Image 3" descr="/home/claude/deck1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42921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9808" y="482803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 → &gt;95%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" y="533095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rate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49808" y="56509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completed with zero human intervention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3959352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98848" y="4160520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0" name="Image 4" descr="/home/claude/deck1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522" y="429219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498848" y="482803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 days</a:t>
            </a:r>
            <a:endParaRPr lang="en-US" sz="2100" dirty="0"/>
          </a:p>
        </p:txBody>
      </p:sp>
      <p:sp>
        <p:nvSpPr>
          <p:cNvPr id="32" name="Text 25"/>
          <p:cNvSpPr txBox="1"/>
          <p:nvPr/>
        </p:nvSpPr>
        <p:spPr>
          <a:xfrm>
            <a:off x="4498848" y="533095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approval-in-principle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4498848" y="56509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intake to in-principle lender approval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46720" y="3959352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47888" y="4160520"/>
            <a:ext cx="548640" cy="54864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6" name="Image 5" descr="/home/claude/deck1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562" y="4292194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247888" y="4828032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zero</a:t>
            </a:r>
            <a:endParaRPr lang="en-US" sz="2100" dirty="0"/>
          </a:p>
        </p:txBody>
      </p:sp>
      <p:sp>
        <p:nvSpPr>
          <p:cNvPr id="38" name="Text 30"/>
          <p:cNvSpPr txBox="1"/>
          <p:nvPr/>
        </p:nvSpPr>
        <p:spPr>
          <a:xfrm>
            <a:off x="8247888" y="533095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violation rate</a:t>
            </a:r>
            <a:endParaRPr lang="en-US" sz="1250" dirty="0"/>
          </a:p>
        </p:txBody>
      </p:sp>
      <p:sp>
        <p:nvSpPr>
          <p:cNvPr id="39" name="Text 31"/>
          <p:cNvSpPr txBox="1"/>
          <p:nvPr/>
        </p:nvSpPr>
        <p:spPr>
          <a:xfrm>
            <a:off x="8247888" y="56509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structures breaching Directive 329, permanently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risks that matter, and how each is contained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1737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EXISTENTIAL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417320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refuse an autonomous counterparty</a:t>
            </a:r>
            <a:endParaRPr lang="en-US" sz="123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417320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borrower POA on ordinary email/phone — same channels human brokers use. Fallback ladder: voice → human relay → licensed-partner interface.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D0F4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395728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25880" y="27157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A901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2715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EXISTENTIAL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395728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error causes client harm</a:t>
            </a:r>
            <a:endParaRPr lang="en-US" sz="123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395728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never computes or adjudicates compliance. Deterministic core, 100% branch coverage on Directive 329, independent recomputation, E&amp;O insurance from day one.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374136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325880" y="36941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25880" y="36941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374136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change introduces licensing</a:t>
            </a:r>
            <a:endParaRPr lang="en-US" sz="123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374136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bill cleared committee May 2026. Building compliance/audit infrastructure now, before it’s demanded; licensed-partner fallback maintained.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4352544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D0F4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352544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325880" y="46725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25880" y="46725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4352544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capitalized competitor moves first</a:t>
            </a:r>
            <a:endParaRPr lang="en-US" sz="123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4352544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on the autonomous execution layer; counterparty-memory asset compounds from file one. Banks structurally can’t run a tender against themselves.</a:t>
            </a:r>
            <a:endParaRPr lang="en-US" sz="103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330952"/>
            <a:ext cx="594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325880" y="565099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25880" y="56509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560320" y="5330952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breach of sensitive financial data</a:t>
            </a:r>
            <a:endParaRPr lang="en-US" sz="123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5330952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P0 engineering: encryption at rest/in transit, field-level encryption for income/ID data, strict retention limits, DPO appointed.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RESOURCING &amp; FUNDING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self-funded team — revenue before an external raise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(PHASE 1) — 4 PEOPLE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1/icons/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Product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86584"/>
            <a:ext cx="457200" cy="45720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9" name="Image 1" descr="/home/claude/deck1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963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3865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— agent harness &amp; comms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2" name="Image 2" descr="/home/claude/deck1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9981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990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— financial core &amp; documents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593592"/>
            <a:ext cx="457200" cy="45720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5" name="Image 3" descr="/home/claude/deck1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70332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3593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ops / compliance lead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43434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777240" y="4498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 BREAK-EVEN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754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₪600–700K</a:t>
            </a:r>
            <a:endParaRPr lang="en-US" sz="32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" y="54406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0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~₪150K pre-revenue POC + ~₪51K/month burn for 6 months. Phase 2 becomes self-funding at ~52 closed files/month.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72200" y="1417320"/>
            <a:ext cx="5468112" cy="4663440"/>
          </a:xfrm>
          <a:prstGeom prst="roundRect">
            <a:avLst>
              <a:gd name="adj" fmla="val 2353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6400800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TO RAISE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self-funded: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permits it; the real constraint is trust and evidence, not capital.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capitalized competitor removes their human layer, this becomes a land-grab and capital decides it.
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0" y="4251960"/>
            <a:ext cx="5029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6583680" y="4389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TRIGGER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6583680" y="4645152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if and only if the friendly-file pilot shows a close rate above 50% and an achieved-rate delta better than −0.25%.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the ₪250M ceiling — four vectors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09928"/>
            <a:ext cx="566928" cy="566928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1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845991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50592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Segment-specialized brands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200400"/>
            <a:ext cx="2313432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32004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LOW COST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65760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harness behind several registered brands (foreign-investor, refinance, complex-credit). Share-capture, not market growth.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64992" y="150876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47872" y="1709928"/>
            <a:ext cx="566928" cy="566928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4" name="Image 1" descr="/home/claude/deck1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935" y="1845991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66944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3547872" y="246888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Israeli products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547872" y="3200400"/>
            <a:ext cx="2313432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547872" y="32004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3547872" y="365760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life/property insurance, loan consolidation, commercial mortgage. Reuses the same machinery — realistically 2–3× the addressable market.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81344" y="150876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64224" y="1709928"/>
            <a:ext cx="566928" cy="566928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22" name="Image 2" descr="/home/claude/deck1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287" y="1845991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83296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6364224" y="246888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Lender-side SaaS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364224" y="3200400"/>
            <a:ext cx="2313432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364224" y="32004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2–3 · DISCOUNTED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364224" y="365760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borrower-file-structuring pipeline to non-bank lenders. On hold: a 2026 draft circular may bar this path — pending counsel.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997696" y="150876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D0F4EA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80576" y="1709928"/>
            <a:ext cx="566928" cy="566928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30" name="Image 3" descr="/home/claude/deck1/icons/comp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639" y="1845991"/>
            <a:ext cx="294803" cy="29480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899648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7B2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2" name="Text 26"/>
          <p:cNvSpPr txBox="1"/>
          <p:nvPr/>
        </p:nvSpPr>
        <p:spPr>
          <a:xfrm>
            <a:off x="9180576" y="246888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expansion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180576" y="3200400"/>
            <a:ext cx="2313432" cy="292608"/>
          </a:xfrm>
          <a:prstGeom prst="roundRect">
            <a:avLst>
              <a:gd name="adj" fmla="val 50000"/>
            </a:avLst>
          </a:prstGeom>
          <a:solidFill>
            <a:srgbClr val="1E87FF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9180576" y="32004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3+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9180576" y="3657600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Market-agnostic harness; ~40% of the system (harness, workflow engine, document pipeline, memory, negotiation) carries over to a new market.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0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E87FF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STANDS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decisions ahead of the raise-or-bootstrap call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6" name="Image 0" descr="/home/claude/deck1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Insurance-license path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9842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licensed agent, partner for revenue share, or acquire a small agency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0" name="Image 1" descr="/home/claude/deck1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7724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Licensable mortgage advisor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2944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hire ahead of the pending licensing bill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0A2463"/>
          </a:solidFill>
          <a:ln/>
        </p:spPr>
      </p:sp>
      <p:pic>
        <p:nvPicPr>
          <p:cNvPr id="14" name="Image 2" descr="/home/claude/deck1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73258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Raise-vs-bootstrap trigger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3904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A2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close rate and better than −0.25% achieved-rate delta on the friendly-file pilot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37960" y="1691640"/>
            <a:ext cx="5102352" cy="4023360"/>
          </a:xfrm>
          <a:prstGeom prst="roundRect">
            <a:avLst>
              <a:gd name="adj" fmla="val 3182"/>
            </a:avLst>
          </a:prstGeom>
          <a:solidFill>
            <a:srgbClr val="0A2463"/>
          </a:solidFill>
          <a:ln/>
          <a:effectLst>
            <a:outerShdw sx="100000" sy="100000" kx="0" ky="0" algn="bl" rotWithShape="0" blurRad="76200" dist="25400" dir="5400000">
              <a:srgbClr val="365072">
                <a:alpha val="1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858000" y="1965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A9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0" y="2286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— POC Complete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0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0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one autonomous file, intake to recommendation, against 5 simulated lenders on test data. Zero compliance violations. Full audit trail.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58000" y="3977640"/>
            <a:ext cx="4480560" cy="0"/>
          </a:xfrm>
          <a:prstGeom prst="line">
            <a:avLst/>
          </a:prstGeom>
          <a:noFill/>
          <a:ln w="12700">
            <a:solidFill>
              <a:srgbClr val="3A508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0" y="41605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PRODUCT_ROADMAP.md, TECHNICAL_ROADMAP.md, REGULATORY_STRATEGY.md, and REGULATORY_ANSWERS.md for full supporting detail.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B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Mortgage Advisor — Business Plan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064240" y="65471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2026-08-30T21:16:34Z</dcterms:created>
  <dcterms:modified xsi:type="dcterms:W3CDTF">2026-08-30T21:16:34Z</dcterms:modified>
</cp:coreProperties>
</file>